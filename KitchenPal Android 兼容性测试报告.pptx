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8" r:id="rId4"/>
    <p:sldId id="259" r:id="rId5"/>
    <p:sldId id="272" r:id="rId6"/>
    <p:sldId id="261" r:id="rId7"/>
    <p:sldId id="260" r:id="rId8"/>
    <p:sldId id="262" r:id="rId9"/>
    <p:sldId id="263" r:id="rId10"/>
    <p:sldId id="264" r:id="rId11"/>
    <p:sldId id="266" r:id="rId12"/>
    <p:sldId id="273" r:id="rId13"/>
    <p:sldId id="268" r:id="rId14"/>
    <p:sldId id="269" r:id="rId15"/>
    <p:sldId id="274" r:id="rId16"/>
    <p:sldId id="270" r:id="rId17"/>
    <p:sldId id="275" r:id="rId18"/>
  </p:sldIdLst>
  <p:sldSz cx="16256000" cy="9144000"/>
  <p:notesSz cx="9144000" cy="16256000"/>
  <p:embeddedFontLst>
    <p:embeddedFont>
      <p:font typeface="MiSans" panose="02010600030101010101" charset="-122"/>
      <p:regular r:id="rId20"/>
    </p:embeddedFont>
    <p:embeddedFont>
      <p:font typeface="阿里妈妈数黑体" panose="02010600030101010101" charset="-122"/>
      <p:regular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348" autoAdjust="0"/>
  </p:normalViewPr>
  <p:slideViewPr>
    <p:cSldViewPr snapToGrid="0" snapToObjects="1">
      <p:cViewPr varScale="1">
        <p:scale>
          <a:sx n="54" d="100"/>
          <a:sy n="54" d="100"/>
        </p:scale>
        <p:origin x="18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66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754B-F755-2F8B-1F76-BAAD03A3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CDBD4-67B9-03E2-8D45-6D6C54059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53713-496B-27AE-931E-C2A9B471C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40343-076D-C517-35D2-770931E48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5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9354-0F23-903B-4DB8-69B469C3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5DF42-2F65-15C9-8EB8-8AD023752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4573D-C0B8-FB29-9F8A-4FF03ECE3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E09DC-C534-AE96-7277-3C76B5385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30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5D404-3A80-38E5-7243-0040432B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2C00A-872C-F974-E378-A42671CD1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28A8E-0F99-48E8-16AB-FBF2B262A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14037-C8C3-3458-1128-238CE56AE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93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1C0B-0526-E3CE-CA65-DE1E8D73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17839-C7F5-C821-46F1-9FCBB8352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920FF-A831-9C05-CFEC-09A5F1672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FE992-B761-DC2D-C915-AD3618872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1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AC3C-2A1C-9258-B13A-0A34F01C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F0ACB-B125-154D-5970-3FA9A1D18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A7679-9E03-DE2A-2805-47287BA95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0B4BA-72E5-368E-B126-5D9F4C420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508000" y="2219325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KitchenPal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048125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7DAA9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Android 兼容性测试报告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064125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8082"/>
              </a:gs>
              <a:gs pos="100000">
                <a:srgbClr val="7DAA92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514350" y="5241925"/>
            <a:ext cx="15430500" cy="1082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0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</a:t>
            </a:r>
            <a:r>
              <a:rPr lang="en-US" altLang="zh-CN" sz="30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roup9</a:t>
            </a:r>
          </a:p>
          <a:p>
            <a:pPr>
              <a:lnSpc>
                <a:spcPct val="120000"/>
              </a:lnSpc>
            </a:pPr>
            <a:r>
              <a:rPr lang="zh-CN" altLang="en-US" sz="30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杨靖旖  陆美彤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6832600"/>
            <a:ext cx="4902200" cy="1803400"/>
          </a:xfrm>
          <a:custGeom>
            <a:avLst/>
            <a:gdLst/>
            <a:ahLst/>
            <a:cxnLst/>
            <a:rect l="l" t="t" r="r" b="b"/>
            <a:pathLst>
              <a:path w="4902200" h="1803400">
                <a:moveTo>
                  <a:pt x="152405" y="0"/>
                </a:moveTo>
                <a:lnTo>
                  <a:pt x="4749795" y="0"/>
                </a:lnTo>
                <a:cubicBezTo>
                  <a:pt x="4833966" y="0"/>
                  <a:pt x="4902200" y="68234"/>
                  <a:pt x="4902200" y="152405"/>
                </a:cubicBezTo>
                <a:lnTo>
                  <a:pt x="4902200" y="1650995"/>
                </a:lnTo>
                <a:cubicBezTo>
                  <a:pt x="4902200" y="1735166"/>
                  <a:pt x="4833966" y="1803400"/>
                  <a:pt x="4749795" y="1803400"/>
                </a:cubicBezTo>
                <a:lnTo>
                  <a:pt x="152405" y="1803400"/>
                </a:lnTo>
                <a:cubicBezTo>
                  <a:pt x="68234" y="1803400"/>
                  <a:pt x="0" y="1735166"/>
                  <a:pt x="0" y="16509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4700" y="709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测试机型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4700" y="7499350"/>
            <a:ext cx="461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8款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4700" y="80581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100%通过率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78984" y="6832600"/>
            <a:ext cx="4902200" cy="1803400"/>
          </a:xfrm>
          <a:custGeom>
            <a:avLst/>
            <a:gdLst/>
            <a:ahLst/>
            <a:cxnLst/>
            <a:rect l="l" t="t" r="r" b="b"/>
            <a:pathLst>
              <a:path w="4902200" h="1803400">
                <a:moveTo>
                  <a:pt x="152405" y="0"/>
                </a:moveTo>
                <a:lnTo>
                  <a:pt x="4749795" y="0"/>
                </a:lnTo>
                <a:cubicBezTo>
                  <a:pt x="4833966" y="0"/>
                  <a:pt x="4902200" y="68234"/>
                  <a:pt x="4902200" y="152405"/>
                </a:cubicBezTo>
                <a:lnTo>
                  <a:pt x="4902200" y="1650995"/>
                </a:lnTo>
                <a:cubicBezTo>
                  <a:pt x="4902200" y="1735166"/>
                  <a:pt x="4833966" y="1803400"/>
                  <a:pt x="4749795" y="1803400"/>
                </a:cubicBezTo>
                <a:lnTo>
                  <a:pt x="152405" y="1803400"/>
                </a:lnTo>
                <a:cubicBezTo>
                  <a:pt x="68234" y="1803400"/>
                  <a:pt x="0" y="1735166"/>
                  <a:pt x="0" y="16509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39334" y="709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任务完成率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39334" y="7499350"/>
            <a:ext cx="461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91.7%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39334" y="80581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12名用户测试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843617" y="6832600"/>
            <a:ext cx="4902200" cy="1803400"/>
          </a:xfrm>
          <a:custGeom>
            <a:avLst/>
            <a:gdLst/>
            <a:ahLst/>
            <a:cxnLst/>
            <a:rect l="l" t="t" r="r" b="b"/>
            <a:pathLst>
              <a:path w="4902200" h="1803400">
                <a:moveTo>
                  <a:pt x="152405" y="0"/>
                </a:moveTo>
                <a:lnTo>
                  <a:pt x="4749795" y="0"/>
                </a:lnTo>
                <a:cubicBezTo>
                  <a:pt x="4833966" y="0"/>
                  <a:pt x="4902200" y="68234"/>
                  <a:pt x="4902200" y="152405"/>
                </a:cubicBezTo>
                <a:lnTo>
                  <a:pt x="4902200" y="1650995"/>
                </a:lnTo>
                <a:cubicBezTo>
                  <a:pt x="4902200" y="1735166"/>
                  <a:pt x="4833966" y="1803400"/>
                  <a:pt x="4749795" y="1803400"/>
                </a:cubicBezTo>
                <a:lnTo>
                  <a:pt x="152405" y="1803400"/>
                </a:lnTo>
                <a:cubicBezTo>
                  <a:pt x="68234" y="1803400"/>
                  <a:pt x="0" y="1735166"/>
                  <a:pt x="0" y="16509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03967" y="709295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满意度评分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03967" y="7499350"/>
            <a:ext cx="46101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4.2</a:t>
            </a: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03967" y="80645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综合用户体验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02A0-19F1-FDD1-DBF2-08B4F21A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>
            <a:extLst>
              <a:ext uri="{FF2B5EF4-FFF2-40B4-BE49-F238E27FC236}">
                <a16:creationId xmlns:a16="http://schemas.microsoft.com/office/drawing/2014/main" id="{9F479AAA-5001-C467-1A01-872CAECE51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C99CB54-BA07-48B7-F567-98674E1035D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D7BCB6-75BF-B766-0F8D-739C5E01031E}"/>
              </a:ext>
            </a:extLst>
          </p:cNvPr>
          <p:cNvSpPr/>
          <p:nvPr/>
        </p:nvSpPr>
        <p:spPr>
          <a:xfrm>
            <a:off x="5669625" y="2641600"/>
            <a:ext cx="4916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PART ONE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5A67D0-EB7F-2400-4788-7B2FE2FAD2F5}"/>
              </a:ext>
            </a:extLst>
          </p:cNvPr>
          <p:cNvSpPr/>
          <p:nvPr/>
        </p:nvSpPr>
        <p:spPr>
          <a:xfrm>
            <a:off x="6113756" y="4450857"/>
            <a:ext cx="402848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4800" b="1" dirty="0">
                <a:solidFill>
                  <a:srgbClr val="7DAA92"/>
                </a:solidFill>
                <a:latin typeface="阿里妈妈数黑体" pitchFamily="34" charset="0"/>
                <a:ea typeface="阿里妈妈数黑体" pitchFamily="34" charset="-122"/>
              </a:rPr>
              <a:t>测试核心内容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131223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4350" y="834501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测试基本信息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96501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20700" y="1958451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850" y="23245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3150" y="252776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8" name="Text 6"/>
          <p:cNvSpPr/>
          <p:nvPr/>
        </p:nvSpPr>
        <p:spPr>
          <a:xfrm>
            <a:off x="1746250" y="2299168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应用名称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46250" y="2654768"/>
            <a:ext cx="607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KitchenPal - 智能厨房助手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" y="3668685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1850" y="403480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4100" y="423800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3" name="Text 11"/>
          <p:cNvSpPr/>
          <p:nvPr/>
        </p:nvSpPr>
        <p:spPr>
          <a:xfrm>
            <a:off x="1746250" y="4009402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46250" y="4365002"/>
            <a:ext cx="607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1.0（内测版）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0700" y="5378918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850" y="574503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594823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50329" y="151150"/>
                </a:moveTo>
                <a:cubicBezTo>
                  <a:pt x="255433" y="151150"/>
                  <a:pt x="260150" y="153873"/>
                  <a:pt x="262702" y="158294"/>
                </a:cubicBezTo>
                <a:cubicBezTo>
                  <a:pt x="265254" y="162714"/>
                  <a:pt x="265254" y="168161"/>
                  <a:pt x="262702" y="172581"/>
                </a:cubicBezTo>
                <a:cubicBezTo>
                  <a:pt x="260150" y="177002"/>
                  <a:pt x="255433" y="179725"/>
                  <a:pt x="250329" y="179725"/>
                </a:cubicBezTo>
                <a:cubicBezTo>
                  <a:pt x="242443" y="179725"/>
                  <a:pt x="236041" y="173323"/>
                  <a:pt x="236041" y="165437"/>
                </a:cubicBezTo>
                <a:cubicBezTo>
                  <a:pt x="236041" y="157552"/>
                  <a:pt x="242443" y="151150"/>
                  <a:pt x="250329" y="151150"/>
                </a:cubicBezTo>
                <a:close/>
                <a:moveTo>
                  <a:pt x="92512" y="151150"/>
                </a:moveTo>
                <a:cubicBezTo>
                  <a:pt x="97616" y="151150"/>
                  <a:pt x="102333" y="153873"/>
                  <a:pt x="104885" y="158294"/>
                </a:cubicBezTo>
                <a:cubicBezTo>
                  <a:pt x="107437" y="162714"/>
                  <a:pt x="107437" y="168161"/>
                  <a:pt x="104885" y="172581"/>
                </a:cubicBezTo>
                <a:cubicBezTo>
                  <a:pt x="102333" y="177002"/>
                  <a:pt x="97616" y="179725"/>
                  <a:pt x="92512" y="179725"/>
                </a:cubicBezTo>
                <a:cubicBezTo>
                  <a:pt x="84626" y="179725"/>
                  <a:pt x="78224" y="173323"/>
                  <a:pt x="78224" y="165437"/>
                </a:cubicBezTo>
                <a:cubicBezTo>
                  <a:pt x="78224" y="157552"/>
                  <a:pt x="84626" y="151150"/>
                  <a:pt x="92512" y="151150"/>
                </a:cubicBezTo>
                <a:close/>
                <a:moveTo>
                  <a:pt x="255449" y="93702"/>
                </a:moveTo>
                <a:lnTo>
                  <a:pt x="283964" y="44291"/>
                </a:lnTo>
                <a:cubicBezTo>
                  <a:pt x="284440" y="43636"/>
                  <a:pt x="284738" y="42863"/>
                  <a:pt x="284857" y="42029"/>
                </a:cubicBezTo>
                <a:cubicBezTo>
                  <a:pt x="284976" y="41196"/>
                  <a:pt x="284976" y="40422"/>
                  <a:pt x="284797" y="39588"/>
                </a:cubicBezTo>
                <a:cubicBezTo>
                  <a:pt x="284619" y="38755"/>
                  <a:pt x="284262" y="38040"/>
                  <a:pt x="283785" y="37386"/>
                </a:cubicBezTo>
                <a:cubicBezTo>
                  <a:pt x="283309" y="36731"/>
                  <a:pt x="282714" y="36195"/>
                  <a:pt x="282000" y="35778"/>
                </a:cubicBezTo>
                <a:cubicBezTo>
                  <a:pt x="281285" y="35362"/>
                  <a:pt x="280511" y="35123"/>
                  <a:pt x="279678" y="35004"/>
                </a:cubicBezTo>
                <a:cubicBezTo>
                  <a:pt x="278844" y="34885"/>
                  <a:pt x="278070" y="35004"/>
                  <a:pt x="277297" y="35243"/>
                </a:cubicBezTo>
                <a:cubicBezTo>
                  <a:pt x="276523" y="35481"/>
                  <a:pt x="275808" y="35897"/>
                  <a:pt x="275153" y="36374"/>
                </a:cubicBezTo>
                <a:cubicBezTo>
                  <a:pt x="274499" y="36850"/>
                  <a:pt x="274022" y="37564"/>
                  <a:pt x="273665" y="38279"/>
                </a:cubicBezTo>
                <a:lnTo>
                  <a:pt x="244793" y="88344"/>
                </a:lnTo>
                <a:cubicBezTo>
                  <a:pt x="221694" y="77986"/>
                  <a:pt x="196691" y="72628"/>
                  <a:pt x="171390" y="72628"/>
                </a:cubicBezTo>
                <a:cubicBezTo>
                  <a:pt x="146090" y="72628"/>
                  <a:pt x="121087" y="77986"/>
                  <a:pt x="97988" y="88344"/>
                </a:cubicBezTo>
                <a:lnTo>
                  <a:pt x="69175" y="38338"/>
                </a:lnTo>
                <a:cubicBezTo>
                  <a:pt x="68818" y="37624"/>
                  <a:pt x="68282" y="36969"/>
                  <a:pt x="67687" y="36433"/>
                </a:cubicBezTo>
                <a:cubicBezTo>
                  <a:pt x="67092" y="35897"/>
                  <a:pt x="66318" y="35540"/>
                  <a:pt x="65544" y="35302"/>
                </a:cubicBezTo>
                <a:cubicBezTo>
                  <a:pt x="64770" y="35064"/>
                  <a:pt x="63937" y="35004"/>
                  <a:pt x="63163" y="35064"/>
                </a:cubicBezTo>
                <a:cubicBezTo>
                  <a:pt x="62389" y="35123"/>
                  <a:pt x="61555" y="35421"/>
                  <a:pt x="60841" y="35838"/>
                </a:cubicBezTo>
                <a:cubicBezTo>
                  <a:pt x="60127" y="36255"/>
                  <a:pt x="59531" y="36790"/>
                  <a:pt x="59055" y="37445"/>
                </a:cubicBezTo>
                <a:cubicBezTo>
                  <a:pt x="58579" y="38100"/>
                  <a:pt x="58222" y="38874"/>
                  <a:pt x="58043" y="39648"/>
                </a:cubicBezTo>
                <a:cubicBezTo>
                  <a:pt x="57864" y="40422"/>
                  <a:pt x="57864" y="41255"/>
                  <a:pt x="57983" y="42089"/>
                </a:cubicBezTo>
                <a:cubicBezTo>
                  <a:pt x="58103" y="42922"/>
                  <a:pt x="58460" y="43636"/>
                  <a:pt x="58876" y="44351"/>
                </a:cubicBezTo>
                <a:lnTo>
                  <a:pt x="87392" y="93762"/>
                </a:lnTo>
                <a:cubicBezTo>
                  <a:pt x="38398" y="120372"/>
                  <a:pt x="4882" y="169962"/>
                  <a:pt x="0" y="228600"/>
                </a:cubicBezTo>
                <a:lnTo>
                  <a:pt x="342900" y="228600"/>
                </a:lnTo>
                <a:cubicBezTo>
                  <a:pt x="338018" y="169962"/>
                  <a:pt x="304502" y="120372"/>
                  <a:pt x="255449" y="93702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8" name="Text 16"/>
          <p:cNvSpPr/>
          <p:nvPr/>
        </p:nvSpPr>
        <p:spPr>
          <a:xfrm>
            <a:off x="1746250" y="5719635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系统平台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46250" y="6075235"/>
            <a:ext cx="607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93100" y="1958451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250" y="232456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826500" y="252776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71450" y="0"/>
                </a:moveTo>
                <a:lnTo>
                  <a:pt x="76200" y="0"/>
                </a:lnTo>
                <a:cubicBezTo>
                  <a:pt x="65663" y="0"/>
                  <a:pt x="57150" y="8513"/>
                  <a:pt x="57150" y="19050"/>
                </a:cubicBezTo>
                <a:cubicBezTo>
                  <a:pt x="57150" y="29587"/>
                  <a:pt x="65663" y="38100"/>
                  <a:pt x="76200" y="38100"/>
                </a:cubicBezTo>
                <a:lnTo>
                  <a:pt x="76200" y="128290"/>
                </a:lnTo>
                <a:lnTo>
                  <a:pt x="4465" y="253782"/>
                </a:lnTo>
                <a:cubicBezTo>
                  <a:pt x="1548" y="258961"/>
                  <a:pt x="0" y="264735"/>
                  <a:pt x="0" y="270689"/>
                </a:cubicBezTo>
                <a:cubicBezTo>
                  <a:pt x="0" y="289560"/>
                  <a:pt x="15240" y="304800"/>
                  <a:pt x="34111" y="304800"/>
                </a:cubicBezTo>
                <a:lnTo>
                  <a:pt x="232589" y="304800"/>
                </a:lnTo>
                <a:cubicBezTo>
                  <a:pt x="251400" y="304800"/>
                  <a:pt x="266700" y="289560"/>
                  <a:pt x="266700" y="270689"/>
                </a:cubicBezTo>
                <a:cubicBezTo>
                  <a:pt x="266700" y="264735"/>
                  <a:pt x="265152" y="258901"/>
                  <a:pt x="262235" y="253782"/>
                </a:cubicBezTo>
                <a:lnTo>
                  <a:pt x="190500" y="128290"/>
                </a:lnTo>
                <a:lnTo>
                  <a:pt x="190500" y="38100"/>
                </a:lnTo>
                <a:cubicBezTo>
                  <a:pt x="201037" y="38100"/>
                  <a:pt x="209550" y="29587"/>
                  <a:pt x="209550" y="19050"/>
                </a:cubicBezTo>
                <a:cubicBezTo>
                  <a:pt x="209550" y="8513"/>
                  <a:pt x="201037" y="0"/>
                  <a:pt x="190500" y="0"/>
                </a:cubicBezTo>
                <a:lnTo>
                  <a:pt x="171450" y="0"/>
                </a:lnTo>
                <a:close/>
                <a:moveTo>
                  <a:pt x="114300" y="128290"/>
                </a:moveTo>
                <a:lnTo>
                  <a:pt x="114300" y="38100"/>
                </a:lnTo>
                <a:lnTo>
                  <a:pt x="152400" y="38100"/>
                </a:lnTo>
                <a:lnTo>
                  <a:pt x="152400" y="128290"/>
                </a:lnTo>
                <a:cubicBezTo>
                  <a:pt x="152400" y="134898"/>
                  <a:pt x="154126" y="141446"/>
                  <a:pt x="157401" y="147221"/>
                </a:cubicBezTo>
                <a:lnTo>
                  <a:pt x="182166" y="190500"/>
                </a:lnTo>
                <a:lnTo>
                  <a:pt x="84534" y="190500"/>
                </a:lnTo>
                <a:lnTo>
                  <a:pt x="109299" y="147221"/>
                </a:lnTo>
                <a:cubicBezTo>
                  <a:pt x="112574" y="141446"/>
                  <a:pt x="114300" y="134957"/>
                  <a:pt x="114300" y="12829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3" name="Text 21"/>
          <p:cNvSpPr/>
          <p:nvPr/>
        </p:nvSpPr>
        <p:spPr>
          <a:xfrm>
            <a:off x="9518650" y="2295993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测试方式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18650" y="2651593"/>
            <a:ext cx="604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腾讯WeTest云真机测试 + 12名同学真实任务体验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93100" y="3668685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4250" y="4034802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26500" y="423800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8" name="Text 26"/>
          <p:cNvSpPr/>
          <p:nvPr/>
        </p:nvSpPr>
        <p:spPr>
          <a:xfrm>
            <a:off x="9518650" y="4009402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测试时间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18650" y="4365002"/>
            <a:ext cx="607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2025.12.15 - 2025.12.18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93100" y="5378918"/>
            <a:ext cx="7454900" cy="1447800"/>
          </a:xfrm>
          <a:custGeom>
            <a:avLst/>
            <a:gdLst/>
            <a:ahLst/>
            <a:cxnLst/>
            <a:rect l="l" t="t" r="r" b="b"/>
            <a:pathLst>
              <a:path w="7454900" h="1447800">
                <a:moveTo>
                  <a:pt x="152395" y="0"/>
                </a:moveTo>
                <a:lnTo>
                  <a:pt x="7302505" y="0"/>
                </a:lnTo>
                <a:cubicBezTo>
                  <a:pt x="7386614" y="0"/>
                  <a:pt x="7454900" y="68286"/>
                  <a:pt x="7454900" y="152395"/>
                </a:cubicBezTo>
                <a:lnTo>
                  <a:pt x="7454900" y="1295405"/>
                </a:lnTo>
                <a:cubicBezTo>
                  <a:pt x="7454900" y="1379514"/>
                  <a:pt x="7386614" y="1447800"/>
                  <a:pt x="7302505" y="1447800"/>
                </a:cubicBezTo>
                <a:lnTo>
                  <a:pt x="152395" y="1447800"/>
                </a:lnTo>
                <a:cubicBezTo>
                  <a:pt x="68286" y="1447800"/>
                  <a:pt x="0" y="1379514"/>
                  <a:pt x="0" y="12954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04250" y="574503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845550" y="594823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3" name="Text 31"/>
          <p:cNvSpPr/>
          <p:nvPr/>
        </p:nvSpPr>
        <p:spPr>
          <a:xfrm>
            <a:off x="9518650" y="5719635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报告生成时间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18650" y="6075235"/>
            <a:ext cx="607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2025年12月20日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9750" y="7133701"/>
            <a:ext cx="15214600" cy="1422400"/>
          </a:xfrm>
          <a:custGeom>
            <a:avLst/>
            <a:gdLst/>
            <a:ahLst/>
            <a:cxnLst/>
            <a:rect l="l" t="t" r="r" b="b"/>
            <a:pathLst>
              <a:path w="15214600" h="1422400">
                <a:moveTo>
                  <a:pt x="50800" y="0"/>
                </a:moveTo>
                <a:lnTo>
                  <a:pt x="15062204" y="0"/>
                </a:lnTo>
                <a:cubicBezTo>
                  <a:pt x="15146370" y="0"/>
                  <a:pt x="15214600" y="68230"/>
                  <a:pt x="15214600" y="152396"/>
                </a:cubicBezTo>
                <a:lnTo>
                  <a:pt x="15214600" y="1270004"/>
                </a:lnTo>
                <a:cubicBezTo>
                  <a:pt x="15214600" y="1354170"/>
                  <a:pt x="15146370" y="1422400"/>
                  <a:pt x="15062204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9750" y="7133701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7" name="Shape 35"/>
          <p:cNvSpPr/>
          <p:nvPr/>
        </p:nvSpPr>
        <p:spPr>
          <a:xfrm>
            <a:off x="920750" y="76544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66688" y="119063"/>
                </a:moveTo>
                <a:cubicBezTo>
                  <a:pt x="166688" y="105920"/>
                  <a:pt x="177358" y="95250"/>
                  <a:pt x="190500" y="95250"/>
                </a:cubicBezTo>
                <a:cubicBezTo>
                  <a:pt x="203642" y="95250"/>
                  <a:pt x="214313" y="105920"/>
                  <a:pt x="214313" y="119063"/>
                </a:cubicBezTo>
                <a:cubicBezTo>
                  <a:pt x="214313" y="132205"/>
                  <a:pt x="203642" y="142875"/>
                  <a:pt x="190500" y="142875"/>
                </a:cubicBezTo>
                <a:cubicBezTo>
                  <a:pt x="177358" y="142875"/>
                  <a:pt x="166688" y="132205"/>
                  <a:pt x="166688" y="119063"/>
                </a:cubicBezTo>
                <a:close/>
                <a:moveTo>
                  <a:pt x="160734" y="166688"/>
                </a:moveTo>
                <a:lnTo>
                  <a:pt x="196453" y="166688"/>
                </a:lnTo>
                <a:cubicBezTo>
                  <a:pt x="206350" y="166688"/>
                  <a:pt x="214313" y="174650"/>
                  <a:pt x="214313" y="184547"/>
                </a:cubicBezTo>
                <a:lnTo>
                  <a:pt x="214313" y="250031"/>
                </a:ln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60734" y="285750"/>
                </a:lnTo>
                <a:cubicBezTo>
                  <a:pt x="150837" y="285750"/>
                  <a:pt x="142875" y="277788"/>
                  <a:pt x="142875" y="267891"/>
                </a:cubicBezTo>
                <a:cubicBezTo>
                  <a:pt x="142875" y="257994"/>
                  <a:pt x="150837" y="250031"/>
                  <a:pt x="160734" y="250031"/>
                </a:cubicBezTo>
                <a:lnTo>
                  <a:pt x="178594" y="250031"/>
                </a:lnTo>
                <a:lnTo>
                  <a:pt x="178594" y="202406"/>
                </a:lnTo>
                <a:lnTo>
                  <a:pt x="160734" y="202406"/>
                </a:lnTo>
                <a:cubicBezTo>
                  <a:pt x="150837" y="202406"/>
                  <a:pt x="142875" y="194444"/>
                  <a:pt x="142875" y="184547"/>
                </a:cubicBezTo>
                <a:cubicBezTo>
                  <a:pt x="142875" y="174650"/>
                  <a:pt x="150837" y="166688"/>
                  <a:pt x="160734" y="166688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8" name="Text 36"/>
          <p:cNvSpPr/>
          <p:nvPr/>
        </p:nvSpPr>
        <p:spPr>
          <a:xfrm>
            <a:off x="1549400" y="7438501"/>
            <a:ext cx="633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测试覆盖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49400" y="7794101"/>
            <a:ext cx="636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共测试</a:t>
            </a:r>
            <a:r>
              <a:rPr lang="en-US" sz="3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8款</a:t>
            </a:r>
            <a:r>
              <a:rPr lang="en-US" sz="2000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机型（覆盖中低高端）+</a:t>
            </a:r>
            <a:r>
              <a:rPr lang="en-US" sz="3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12名</a:t>
            </a:r>
            <a:r>
              <a:rPr lang="en-US" sz="2000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真实用户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683159" y="7489301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Android版本覆盖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657759" y="7844901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Android 9 ~ 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B2175A29-3737-B859-7612-E63016FD4196}"/>
              </a:ext>
            </a:extLst>
          </p:cNvPr>
          <p:cNvGrpSpPr/>
          <p:nvPr/>
        </p:nvGrpSpPr>
        <p:grpSpPr>
          <a:xfrm>
            <a:off x="482154" y="576729"/>
            <a:ext cx="15558425" cy="8246338"/>
            <a:chOff x="498268" y="896883"/>
            <a:chExt cx="15558425" cy="8246338"/>
          </a:xfrm>
        </p:grpSpPr>
        <p:sp>
          <p:nvSpPr>
            <p:cNvPr id="3" name="Text 1"/>
            <p:cNvSpPr/>
            <p:nvPr/>
          </p:nvSpPr>
          <p:spPr>
            <a:xfrm>
              <a:off x="498268" y="896883"/>
              <a:ext cx="15558425" cy="597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4708" b="1" dirty="0">
                  <a:solidFill>
                    <a:srgbClr val="F0F2F5"/>
                  </a:solidFill>
                  <a:latin typeface="阿里妈妈数黑体" pitchFamily="34" charset="0"/>
                  <a:ea typeface="阿里妈妈数黑体" pitchFamily="34" charset="-122"/>
                  <a:cs typeface="阿里妈妈数黑体" pitchFamily="34" charset="-120"/>
                </a:rPr>
                <a:t>核心测试结论</a:t>
              </a:r>
              <a:endParaRPr lang="en-US" sz="16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498268" y="1644285"/>
              <a:ext cx="1195844" cy="49827"/>
            </a:xfrm>
            <a:custGeom>
              <a:avLst/>
              <a:gdLst/>
              <a:ahLst/>
              <a:cxnLst/>
              <a:rect l="l" t="t" r="r" b="b"/>
              <a:pathLst>
                <a:path w="1195844" h="49827">
                  <a:moveTo>
                    <a:pt x="0" y="0"/>
                  </a:moveTo>
                  <a:lnTo>
                    <a:pt x="1195844" y="0"/>
                  </a:lnTo>
                  <a:lnTo>
                    <a:pt x="1195844" y="49827"/>
                  </a:lnTo>
                  <a:lnTo>
                    <a:pt x="0" y="498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8082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523182" y="1993073"/>
              <a:ext cx="4895485" cy="2541168"/>
            </a:xfrm>
            <a:custGeom>
              <a:avLst/>
              <a:gdLst/>
              <a:ahLst/>
              <a:cxnLst/>
              <a:rect l="l" t="t" r="r" b="b"/>
              <a:pathLst>
                <a:path w="4895485" h="2541168">
                  <a:moveTo>
                    <a:pt x="49827" y="0"/>
                  </a:moveTo>
                  <a:lnTo>
                    <a:pt x="4746014" y="0"/>
                  </a:lnTo>
                  <a:cubicBezTo>
                    <a:pt x="4828564" y="0"/>
                    <a:pt x="4895485" y="66921"/>
                    <a:pt x="4895485" y="149471"/>
                  </a:cubicBezTo>
                  <a:lnTo>
                    <a:pt x="4895485" y="2391696"/>
                  </a:lnTo>
                  <a:cubicBezTo>
                    <a:pt x="4895485" y="2474192"/>
                    <a:pt x="4828509" y="2541168"/>
                    <a:pt x="4746014" y="2541168"/>
                  </a:cubicBez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523182" y="1993073"/>
              <a:ext cx="49827" cy="2541168"/>
            </a:xfrm>
            <a:custGeom>
              <a:avLst/>
              <a:gdLst/>
              <a:ahLst/>
              <a:cxnLst/>
              <a:rect l="l" t="t" r="r" b="b"/>
              <a:pathLst>
                <a:path w="49827" h="2541168">
                  <a:moveTo>
                    <a:pt x="49827" y="0"/>
                  </a:moveTo>
                  <a:lnTo>
                    <a:pt x="49827" y="0"/>
                  </a:lnTo>
                  <a:lnTo>
                    <a:pt x="49827" y="2541168"/>
                  </a:ln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847056" y="2292034"/>
              <a:ext cx="597922" cy="597922"/>
            </a:xfrm>
            <a:custGeom>
              <a:avLst/>
              <a:gdLst/>
              <a:ahLst/>
              <a:cxnLst/>
              <a:rect l="l" t="t" r="r" b="b"/>
              <a:pathLst>
                <a:path w="597922" h="597922">
                  <a:moveTo>
                    <a:pt x="149480" y="0"/>
                  </a:moveTo>
                  <a:lnTo>
                    <a:pt x="448441" y="0"/>
                  </a:lnTo>
                  <a:cubicBezTo>
                    <a:pt x="530942" y="0"/>
                    <a:pt x="597922" y="66980"/>
                    <a:pt x="597922" y="149480"/>
                  </a:cubicBezTo>
                  <a:lnTo>
                    <a:pt x="597922" y="448441"/>
                  </a:lnTo>
                  <a:cubicBezTo>
                    <a:pt x="597922" y="530942"/>
                    <a:pt x="530942" y="597922"/>
                    <a:pt x="448441" y="597922"/>
                  </a:cubicBezTo>
                  <a:lnTo>
                    <a:pt x="149480" y="597922"/>
                  </a:lnTo>
                  <a:cubicBezTo>
                    <a:pt x="66980" y="597922"/>
                    <a:pt x="0" y="530942"/>
                    <a:pt x="0" y="448441"/>
                  </a:cubicBezTo>
                  <a:lnTo>
                    <a:pt x="0" y="149480"/>
                  </a:lnTo>
                  <a:cubicBezTo>
                    <a:pt x="0" y="66980"/>
                    <a:pt x="66980" y="0"/>
                    <a:pt x="149480" y="0"/>
                  </a:cubicBezTo>
                  <a:close/>
                </a:path>
              </a:pathLst>
            </a:custGeom>
            <a:solidFill>
              <a:srgbClr val="7DAA92">
                <a:alpha val="30196"/>
              </a:srgbClr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021450" y="2466428"/>
              <a:ext cx="249134" cy="249134"/>
            </a:xfrm>
            <a:custGeom>
              <a:avLst/>
              <a:gdLst/>
              <a:ahLst/>
              <a:cxnLst/>
              <a:rect l="l" t="t" r="r" b="b"/>
              <a:pathLst>
                <a:path w="249134" h="249134">
                  <a:moveTo>
                    <a:pt x="124567" y="249134"/>
                  </a:moveTo>
                  <a:cubicBezTo>
                    <a:pt x="193317" y="249134"/>
                    <a:pt x="249134" y="193317"/>
                    <a:pt x="249134" y="124567"/>
                  </a:cubicBezTo>
                  <a:cubicBezTo>
                    <a:pt x="249134" y="55817"/>
                    <a:pt x="193317" y="0"/>
                    <a:pt x="124567" y="0"/>
                  </a:cubicBezTo>
                  <a:cubicBezTo>
                    <a:pt x="55817" y="0"/>
                    <a:pt x="0" y="55817"/>
                    <a:pt x="0" y="124567"/>
                  </a:cubicBezTo>
                  <a:cubicBezTo>
                    <a:pt x="0" y="193317"/>
                    <a:pt x="55817" y="249134"/>
                    <a:pt x="124567" y="249134"/>
                  </a:cubicBezTo>
                  <a:close/>
                  <a:moveTo>
                    <a:pt x="165635" y="103498"/>
                  </a:moveTo>
                  <a:lnTo>
                    <a:pt x="126708" y="165781"/>
                  </a:lnTo>
                  <a:cubicBezTo>
                    <a:pt x="124664" y="169041"/>
                    <a:pt x="121161" y="171085"/>
                    <a:pt x="117317" y="171280"/>
                  </a:cubicBezTo>
                  <a:cubicBezTo>
                    <a:pt x="113473" y="171474"/>
                    <a:pt x="109775" y="169723"/>
                    <a:pt x="107488" y="166608"/>
                  </a:cubicBezTo>
                  <a:lnTo>
                    <a:pt x="84131" y="135467"/>
                  </a:lnTo>
                  <a:cubicBezTo>
                    <a:pt x="80239" y="130309"/>
                    <a:pt x="81309" y="123010"/>
                    <a:pt x="86467" y="119117"/>
                  </a:cubicBezTo>
                  <a:cubicBezTo>
                    <a:pt x="91625" y="115225"/>
                    <a:pt x="98924" y="116295"/>
                    <a:pt x="102816" y="121453"/>
                  </a:cubicBezTo>
                  <a:lnTo>
                    <a:pt x="115954" y="138970"/>
                  </a:lnTo>
                  <a:lnTo>
                    <a:pt x="145831" y="91138"/>
                  </a:lnTo>
                  <a:cubicBezTo>
                    <a:pt x="149237" y="85689"/>
                    <a:pt x="156439" y="83985"/>
                    <a:pt x="161937" y="87440"/>
                  </a:cubicBezTo>
                  <a:cubicBezTo>
                    <a:pt x="167436" y="90895"/>
                    <a:pt x="169090" y="98048"/>
                    <a:pt x="165635" y="103546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1594458" y="2441514"/>
              <a:ext cx="1096190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机型通过率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47056" y="3089263"/>
              <a:ext cx="4646351" cy="747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5885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100%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47056" y="3936319"/>
              <a:ext cx="4372303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dirty="0">
                  <a:solidFill>
                    <a:srgbClr val="F0F2F5">
                      <a:alpha val="7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8款机型全部通过测试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692228" y="1993073"/>
              <a:ext cx="4895485" cy="2541168"/>
            </a:xfrm>
            <a:custGeom>
              <a:avLst/>
              <a:gdLst/>
              <a:ahLst/>
              <a:cxnLst/>
              <a:rect l="l" t="t" r="r" b="b"/>
              <a:pathLst>
                <a:path w="4895485" h="2541168">
                  <a:moveTo>
                    <a:pt x="49827" y="0"/>
                  </a:moveTo>
                  <a:lnTo>
                    <a:pt x="4746014" y="0"/>
                  </a:lnTo>
                  <a:cubicBezTo>
                    <a:pt x="4828564" y="0"/>
                    <a:pt x="4895485" y="66921"/>
                    <a:pt x="4895485" y="149471"/>
                  </a:cubicBezTo>
                  <a:lnTo>
                    <a:pt x="4895485" y="2391696"/>
                  </a:lnTo>
                  <a:cubicBezTo>
                    <a:pt x="4895485" y="2474192"/>
                    <a:pt x="4828509" y="2541168"/>
                    <a:pt x="4746014" y="2541168"/>
                  </a:cubicBez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5692228" y="1993073"/>
              <a:ext cx="49827" cy="2541168"/>
            </a:xfrm>
            <a:custGeom>
              <a:avLst/>
              <a:gdLst/>
              <a:ahLst/>
              <a:cxnLst/>
              <a:rect l="l" t="t" r="r" b="b"/>
              <a:pathLst>
                <a:path w="49827" h="2541168">
                  <a:moveTo>
                    <a:pt x="49827" y="0"/>
                  </a:moveTo>
                  <a:lnTo>
                    <a:pt x="49827" y="0"/>
                  </a:lnTo>
                  <a:lnTo>
                    <a:pt x="49827" y="2541168"/>
                  </a:ln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6016102" y="2292034"/>
              <a:ext cx="597922" cy="597922"/>
            </a:xfrm>
            <a:custGeom>
              <a:avLst/>
              <a:gdLst/>
              <a:ahLst/>
              <a:cxnLst/>
              <a:rect l="l" t="t" r="r" b="b"/>
              <a:pathLst>
                <a:path w="597922" h="597922">
                  <a:moveTo>
                    <a:pt x="149480" y="0"/>
                  </a:moveTo>
                  <a:lnTo>
                    <a:pt x="448441" y="0"/>
                  </a:lnTo>
                  <a:cubicBezTo>
                    <a:pt x="530942" y="0"/>
                    <a:pt x="597922" y="66980"/>
                    <a:pt x="597922" y="149480"/>
                  </a:cubicBezTo>
                  <a:lnTo>
                    <a:pt x="597922" y="448441"/>
                  </a:lnTo>
                  <a:cubicBezTo>
                    <a:pt x="597922" y="530942"/>
                    <a:pt x="530942" y="597922"/>
                    <a:pt x="448441" y="597922"/>
                  </a:cubicBezTo>
                  <a:lnTo>
                    <a:pt x="149480" y="597922"/>
                  </a:lnTo>
                  <a:cubicBezTo>
                    <a:pt x="66980" y="597922"/>
                    <a:pt x="0" y="530942"/>
                    <a:pt x="0" y="448441"/>
                  </a:cubicBezTo>
                  <a:lnTo>
                    <a:pt x="0" y="149480"/>
                  </a:lnTo>
                  <a:cubicBezTo>
                    <a:pt x="0" y="66980"/>
                    <a:pt x="66980" y="0"/>
                    <a:pt x="149480" y="0"/>
                  </a:cubicBezTo>
                  <a:close/>
                </a:path>
              </a:pathLst>
            </a:custGeom>
            <a:solidFill>
              <a:srgbClr val="3C8082">
                <a:alpha val="30196"/>
              </a:srgbClr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190496" y="2466428"/>
              <a:ext cx="249134" cy="249134"/>
            </a:xfrm>
            <a:custGeom>
              <a:avLst/>
              <a:gdLst/>
              <a:ahLst/>
              <a:cxnLst/>
              <a:rect l="l" t="t" r="r" b="b"/>
              <a:pathLst>
                <a:path w="249134" h="249134">
                  <a:moveTo>
                    <a:pt x="65106" y="17663"/>
                  </a:moveTo>
                  <a:cubicBezTo>
                    <a:pt x="70410" y="21361"/>
                    <a:pt x="71675" y="28660"/>
                    <a:pt x="67977" y="33915"/>
                  </a:cubicBezTo>
                  <a:lnTo>
                    <a:pt x="40728" y="72843"/>
                  </a:lnTo>
                  <a:cubicBezTo>
                    <a:pt x="38733" y="75665"/>
                    <a:pt x="35618" y="77465"/>
                    <a:pt x="32164" y="77757"/>
                  </a:cubicBezTo>
                  <a:cubicBezTo>
                    <a:pt x="28709" y="78049"/>
                    <a:pt x="25303" y="76881"/>
                    <a:pt x="22870" y="74448"/>
                  </a:cubicBezTo>
                  <a:lnTo>
                    <a:pt x="3406" y="54985"/>
                  </a:lnTo>
                  <a:cubicBezTo>
                    <a:pt x="-1119" y="50411"/>
                    <a:pt x="-1119" y="43015"/>
                    <a:pt x="3406" y="38441"/>
                  </a:cubicBezTo>
                  <a:cubicBezTo>
                    <a:pt x="7931" y="33867"/>
                    <a:pt x="15376" y="33915"/>
                    <a:pt x="19950" y="38441"/>
                  </a:cubicBezTo>
                  <a:lnTo>
                    <a:pt x="29585" y="48075"/>
                  </a:lnTo>
                  <a:lnTo>
                    <a:pt x="48854" y="20534"/>
                  </a:lnTo>
                  <a:cubicBezTo>
                    <a:pt x="52552" y="15230"/>
                    <a:pt x="59851" y="13965"/>
                    <a:pt x="65106" y="17663"/>
                  </a:cubicBezTo>
                  <a:close/>
                  <a:moveTo>
                    <a:pt x="65106" y="95518"/>
                  </a:moveTo>
                  <a:cubicBezTo>
                    <a:pt x="70410" y="99216"/>
                    <a:pt x="71675" y="106515"/>
                    <a:pt x="67977" y="111770"/>
                  </a:cubicBezTo>
                  <a:lnTo>
                    <a:pt x="40728" y="150697"/>
                  </a:lnTo>
                  <a:cubicBezTo>
                    <a:pt x="38733" y="153519"/>
                    <a:pt x="35618" y="155320"/>
                    <a:pt x="32164" y="155611"/>
                  </a:cubicBezTo>
                  <a:cubicBezTo>
                    <a:pt x="28709" y="155903"/>
                    <a:pt x="25303" y="154736"/>
                    <a:pt x="22870" y="152303"/>
                  </a:cubicBezTo>
                  <a:lnTo>
                    <a:pt x="3406" y="132839"/>
                  </a:lnTo>
                  <a:cubicBezTo>
                    <a:pt x="-1168" y="128265"/>
                    <a:pt x="-1168" y="120869"/>
                    <a:pt x="3406" y="116344"/>
                  </a:cubicBezTo>
                  <a:cubicBezTo>
                    <a:pt x="7980" y="111818"/>
                    <a:pt x="15376" y="111770"/>
                    <a:pt x="19902" y="116344"/>
                  </a:cubicBezTo>
                  <a:lnTo>
                    <a:pt x="29536" y="125978"/>
                  </a:lnTo>
                  <a:lnTo>
                    <a:pt x="48805" y="98437"/>
                  </a:lnTo>
                  <a:cubicBezTo>
                    <a:pt x="52503" y="93133"/>
                    <a:pt x="59802" y="91868"/>
                    <a:pt x="65057" y="95566"/>
                  </a:cubicBezTo>
                  <a:close/>
                  <a:moveTo>
                    <a:pt x="108996" y="46713"/>
                  </a:moveTo>
                  <a:cubicBezTo>
                    <a:pt x="108996" y="38100"/>
                    <a:pt x="115954" y="31142"/>
                    <a:pt x="124567" y="31142"/>
                  </a:cubicBezTo>
                  <a:lnTo>
                    <a:pt x="233563" y="31142"/>
                  </a:lnTo>
                  <a:cubicBezTo>
                    <a:pt x="242176" y="31142"/>
                    <a:pt x="249134" y="38100"/>
                    <a:pt x="249134" y="46713"/>
                  </a:cubicBezTo>
                  <a:cubicBezTo>
                    <a:pt x="249134" y="55325"/>
                    <a:pt x="242176" y="62284"/>
                    <a:pt x="233563" y="62284"/>
                  </a:cubicBezTo>
                  <a:lnTo>
                    <a:pt x="124567" y="62284"/>
                  </a:lnTo>
                  <a:cubicBezTo>
                    <a:pt x="115954" y="62284"/>
                    <a:pt x="108996" y="55325"/>
                    <a:pt x="108996" y="46713"/>
                  </a:cubicBezTo>
                  <a:close/>
                  <a:moveTo>
                    <a:pt x="108996" y="124567"/>
                  </a:moveTo>
                  <a:cubicBezTo>
                    <a:pt x="108996" y="115954"/>
                    <a:pt x="115954" y="108996"/>
                    <a:pt x="124567" y="108996"/>
                  </a:cubicBezTo>
                  <a:lnTo>
                    <a:pt x="233563" y="108996"/>
                  </a:lnTo>
                  <a:cubicBezTo>
                    <a:pt x="242176" y="108996"/>
                    <a:pt x="249134" y="115954"/>
                    <a:pt x="249134" y="124567"/>
                  </a:cubicBezTo>
                  <a:cubicBezTo>
                    <a:pt x="249134" y="133180"/>
                    <a:pt x="242176" y="140138"/>
                    <a:pt x="233563" y="140138"/>
                  </a:cubicBezTo>
                  <a:lnTo>
                    <a:pt x="124567" y="140138"/>
                  </a:lnTo>
                  <a:cubicBezTo>
                    <a:pt x="115954" y="140138"/>
                    <a:pt x="108996" y="133180"/>
                    <a:pt x="108996" y="124567"/>
                  </a:cubicBezTo>
                  <a:close/>
                  <a:moveTo>
                    <a:pt x="77854" y="202421"/>
                  </a:moveTo>
                  <a:cubicBezTo>
                    <a:pt x="77854" y="193809"/>
                    <a:pt x="84813" y="186851"/>
                    <a:pt x="93425" y="186851"/>
                  </a:cubicBezTo>
                  <a:lnTo>
                    <a:pt x="233563" y="186851"/>
                  </a:lnTo>
                  <a:cubicBezTo>
                    <a:pt x="242176" y="186851"/>
                    <a:pt x="249134" y="193809"/>
                    <a:pt x="249134" y="202421"/>
                  </a:cubicBezTo>
                  <a:cubicBezTo>
                    <a:pt x="249134" y="211034"/>
                    <a:pt x="242176" y="217992"/>
                    <a:pt x="233563" y="217992"/>
                  </a:cubicBezTo>
                  <a:lnTo>
                    <a:pt x="93425" y="217992"/>
                  </a:lnTo>
                  <a:cubicBezTo>
                    <a:pt x="84813" y="217992"/>
                    <a:pt x="77854" y="211034"/>
                    <a:pt x="77854" y="202421"/>
                  </a:cubicBezTo>
                  <a:close/>
                  <a:moveTo>
                    <a:pt x="31142" y="182958"/>
                  </a:moveTo>
                  <a:cubicBezTo>
                    <a:pt x="41884" y="182958"/>
                    <a:pt x="50605" y="191679"/>
                    <a:pt x="50605" y="202421"/>
                  </a:cubicBezTo>
                  <a:cubicBezTo>
                    <a:pt x="50605" y="213164"/>
                    <a:pt x="41884" y="221885"/>
                    <a:pt x="31142" y="221885"/>
                  </a:cubicBezTo>
                  <a:cubicBezTo>
                    <a:pt x="20400" y="221885"/>
                    <a:pt x="11678" y="213164"/>
                    <a:pt x="11678" y="202421"/>
                  </a:cubicBezTo>
                  <a:cubicBezTo>
                    <a:pt x="11678" y="191679"/>
                    <a:pt x="20400" y="182958"/>
                    <a:pt x="31142" y="182958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763504" y="2441514"/>
              <a:ext cx="1096190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任务完成率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016102" y="3089263"/>
              <a:ext cx="4646351" cy="747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5885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91.7</a:t>
              </a:r>
              <a:r>
                <a:rPr lang="en-US" sz="3531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%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016102" y="3936319"/>
              <a:ext cx="4372303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dirty="0">
                  <a:solidFill>
                    <a:srgbClr val="F0F2F5">
                      <a:alpha val="7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12名用户平均完成率</a:t>
              </a:r>
              <a:endParaRPr lang="en-US" sz="16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0861274" y="1993073"/>
              <a:ext cx="4895485" cy="2541168"/>
            </a:xfrm>
            <a:custGeom>
              <a:avLst/>
              <a:gdLst/>
              <a:ahLst/>
              <a:cxnLst/>
              <a:rect l="l" t="t" r="r" b="b"/>
              <a:pathLst>
                <a:path w="4895485" h="2541168">
                  <a:moveTo>
                    <a:pt x="49827" y="0"/>
                  </a:moveTo>
                  <a:lnTo>
                    <a:pt x="4746014" y="0"/>
                  </a:lnTo>
                  <a:cubicBezTo>
                    <a:pt x="4828564" y="0"/>
                    <a:pt x="4895485" y="66921"/>
                    <a:pt x="4895485" y="149471"/>
                  </a:cubicBezTo>
                  <a:lnTo>
                    <a:pt x="4895485" y="2391696"/>
                  </a:lnTo>
                  <a:cubicBezTo>
                    <a:pt x="4895485" y="2474192"/>
                    <a:pt x="4828509" y="2541168"/>
                    <a:pt x="4746014" y="2541168"/>
                  </a:cubicBez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10861274" y="1993073"/>
              <a:ext cx="49827" cy="2541168"/>
            </a:xfrm>
            <a:custGeom>
              <a:avLst/>
              <a:gdLst/>
              <a:ahLst/>
              <a:cxnLst/>
              <a:rect l="l" t="t" r="r" b="b"/>
              <a:pathLst>
                <a:path w="49827" h="2541168">
                  <a:moveTo>
                    <a:pt x="49827" y="0"/>
                  </a:moveTo>
                  <a:lnTo>
                    <a:pt x="49827" y="0"/>
                  </a:lnTo>
                  <a:lnTo>
                    <a:pt x="49827" y="2541168"/>
                  </a:lnTo>
                  <a:lnTo>
                    <a:pt x="49827" y="2541168"/>
                  </a:lnTo>
                  <a:cubicBezTo>
                    <a:pt x="22308" y="2541168"/>
                    <a:pt x="0" y="2518860"/>
                    <a:pt x="0" y="249134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11185148" y="2292034"/>
              <a:ext cx="597922" cy="597922"/>
            </a:xfrm>
            <a:custGeom>
              <a:avLst/>
              <a:gdLst/>
              <a:ahLst/>
              <a:cxnLst/>
              <a:rect l="l" t="t" r="r" b="b"/>
              <a:pathLst>
                <a:path w="597922" h="597922">
                  <a:moveTo>
                    <a:pt x="149480" y="0"/>
                  </a:moveTo>
                  <a:lnTo>
                    <a:pt x="448441" y="0"/>
                  </a:lnTo>
                  <a:cubicBezTo>
                    <a:pt x="530942" y="0"/>
                    <a:pt x="597922" y="66980"/>
                    <a:pt x="597922" y="149480"/>
                  </a:cubicBezTo>
                  <a:lnTo>
                    <a:pt x="597922" y="448441"/>
                  </a:lnTo>
                  <a:cubicBezTo>
                    <a:pt x="597922" y="530942"/>
                    <a:pt x="530942" y="597922"/>
                    <a:pt x="448441" y="597922"/>
                  </a:cubicBezTo>
                  <a:lnTo>
                    <a:pt x="149480" y="597922"/>
                  </a:lnTo>
                  <a:cubicBezTo>
                    <a:pt x="66980" y="597922"/>
                    <a:pt x="0" y="530942"/>
                    <a:pt x="0" y="448441"/>
                  </a:cubicBezTo>
                  <a:lnTo>
                    <a:pt x="0" y="149480"/>
                  </a:lnTo>
                  <a:cubicBezTo>
                    <a:pt x="0" y="66980"/>
                    <a:pt x="66980" y="0"/>
                    <a:pt x="149480" y="0"/>
                  </a:cubicBezTo>
                  <a:close/>
                </a:path>
              </a:pathLst>
            </a:custGeom>
            <a:solidFill>
              <a:srgbClr val="7DAA92">
                <a:alpha val="30196"/>
              </a:srgbClr>
            </a:solidFill>
            <a:ln/>
          </p:spPr>
        </p:sp>
        <p:sp>
          <p:nvSpPr>
            <p:cNvPr id="22" name="Shape 20"/>
            <p:cNvSpPr/>
            <p:nvPr/>
          </p:nvSpPr>
          <p:spPr>
            <a:xfrm>
              <a:off x="11343971" y="2466428"/>
              <a:ext cx="280276" cy="249134"/>
            </a:xfrm>
            <a:custGeom>
              <a:avLst/>
              <a:gdLst/>
              <a:ahLst/>
              <a:cxnLst/>
              <a:rect l="l" t="t" r="r" b="b"/>
              <a:pathLst>
                <a:path w="280276" h="249134">
                  <a:moveTo>
                    <a:pt x="150600" y="-9197"/>
                  </a:moveTo>
                  <a:cubicBezTo>
                    <a:pt x="148605" y="-13089"/>
                    <a:pt x="144566" y="-15571"/>
                    <a:pt x="140187" y="-15571"/>
                  </a:cubicBezTo>
                  <a:cubicBezTo>
                    <a:pt x="135807" y="-15571"/>
                    <a:pt x="131769" y="-13089"/>
                    <a:pt x="129774" y="-9197"/>
                  </a:cubicBezTo>
                  <a:lnTo>
                    <a:pt x="93961" y="60970"/>
                  </a:lnTo>
                  <a:lnTo>
                    <a:pt x="16155" y="73329"/>
                  </a:lnTo>
                  <a:cubicBezTo>
                    <a:pt x="11824" y="74010"/>
                    <a:pt x="8223" y="77076"/>
                    <a:pt x="6861" y="81261"/>
                  </a:cubicBezTo>
                  <a:cubicBezTo>
                    <a:pt x="5498" y="85445"/>
                    <a:pt x="6618" y="90019"/>
                    <a:pt x="9683" y="93133"/>
                  </a:cubicBezTo>
                  <a:lnTo>
                    <a:pt x="65349" y="148848"/>
                  </a:lnTo>
                  <a:lnTo>
                    <a:pt x="53087" y="226654"/>
                  </a:lnTo>
                  <a:cubicBezTo>
                    <a:pt x="52406" y="230984"/>
                    <a:pt x="54206" y="235364"/>
                    <a:pt x="57758" y="237943"/>
                  </a:cubicBezTo>
                  <a:cubicBezTo>
                    <a:pt x="61310" y="240521"/>
                    <a:pt x="65982" y="240911"/>
                    <a:pt x="69923" y="238916"/>
                  </a:cubicBezTo>
                  <a:lnTo>
                    <a:pt x="140187" y="203200"/>
                  </a:lnTo>
                  <a:lnTo>
                    <a:pt x="210402" y="238916"/>
                  </a:lnTo>
                  <a:cubicBezTo>
                    <a:pt x="214294" y="240911"/>
                    <a:pt x="219014" y="240521"/>
                    <a:pt x="222566" y="237943"/>
                  </a:cubicBezTo>
                  <a:cubicBezTo>
                    <a:pt x="226118" y="235364"/>
                    <a:pt x="227919" y="231033"/>
                    <a:pt x="227238" y="226654"/>
                  </a:cubicBezTo>
                  <a:lnTo>
                    <a:pt x="214927" y="148848"/>
                  </a:lnTo>
                  <a:lnTo>
                    <a:pt x="270593" y="93133"/>
                  </a:lnTo>
                  <a:cubicBezTo>
                    <a:pt x="273707" y="90019"/>
                    <a:pt x="274777" y="85445"/>
                    <a:pt x="273415" y="81261"/>
                  </a:cubicBezTo>
                  <a:cubicBezTo>
                    <a:pt x="272052" y="77076"/>
                    <a:pt x="268500" y="74010"/>
                    <a:pt x="264121" y="73329"/>
                  </a:cubicBezTo>
                  <a:lnTo>
                    <a:pt x="186364" y="60970"/>
                  </a:lnTo>
                  <a:lnTo>
                    <a:pt x="150600" y="-9197"/>
                  </a:ln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11932550" y="2441514"/>
              <a:ext cx="1096190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满意度评分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1185148" y="3089263"/>
              <a:ext cx="4646351" cy="747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80000"/>
                </a:lnSpc>
              </a:pPr>
              <a:r>
                <a:rPr lang="en-US" sz="5885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4.2</a:t>
              </a:r>
              <a:r>
                <a:rPr lang="en-US" sz="3531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/5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1185148" y="3936319"/>
              <a:ext cx="4372303" cy="298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69" dirty="0">
                  <a:solidFill>
                    <a:srgbClr val="F0F2F5">
                      <a:alpha val="7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综合用户体验评分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4497" y="4789603"/>
              <a:ext cx="7486480" cy="2503798"/>
            </a:xfrm>
            <a:custGeom>
              <a:avLst/>
              <a:gdLst/>
              <a:ahLst/>
              <a:cxnLst/>
              <a:rect l="l" t="t" r="r" b="b"/>
              <a:pathLst>
                <a:path w="7486480" h="2503798">
                  <a:moveTo>
                    <a:pt x="149477" y="0"/>
                  </a:moveTo>
                  <a:lnTo>
                    <a:pt x="7337003" y="0"/>
                  </a:lnTo>
                  <a:cubicBezTo>
                    <a:pt x="7419557" y="0"/>
                    <a:pt x="7486480" y="66923"/>
                    <a:pt x="7486480" y="149477"/>
                  </a:cubicBezTo>
                  <a:lnTo>
                    <a:pt x="7486480" y="2354321"/>
                  </a:lnTo>
                  <a:cubicBezTo>
                    <a:pt x="7486480" y="2436875"/>
                    <a:pt x="7419557" y="2503798"/>
                    <a:pt x="7337003" y="2503798"/>
                  </a:cubicBezTo>
                  <a:lnTo>
                    <a:pt x="149477" y="2503798"/>
                  </a:lnTo>
                  <a:cubicBezTo>
                    <a:pt x="66923" y="2503798"/>
                    <a:pt x="0" y="2436875"/>
                    <a:pt x="0" y="2354321"/>
                  </a:cubicBezTo>
                  <a:lnTo>
                    <a:pt x="0" y="149477"/>
                  </a:lnTo>
                  <a:cubicBezTo>
                    <a:pt x="0" y="66978"/>
                    <a:pt x="66978" y="0"/>
                    <a:pt x="14947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 w="12700">
              <a:solidFill>
                <a:srgbClr val="3C8082">
                  <a:alpha val="30196"/>
                </a:srgbClr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840828" y="5144619"/>
              <a:ext cx="249134" cy="249134"/>
            </a:xfrm>
            <a:custGeom>
              <a:avLst/>
              <a:gdLst/>
              <a:ahLst/>
              <a:cxnLst/>
              <a:rect l="l" t="t" r="r" b="b"/>
              <a:pathLst>
                <a:path w="249134" h="249134">
                  <a:moveTo>
                    <a:pt x="124567" y="0"/>
                  </a:moveTo>
                  <a:cubicBezTo>
                    <a:pt x="131720" y="0"/>
                    <a:pt x="138289" y="3941"/>
                    <a:pt x="141695" y="10218"/>
                  </a:cubicBezTo>
                  <a:lnTo>
                    <a:pt x="246798" y="204854"/>
                  </a:lnTo>
                  <a:cubicBezTo>
                    <a:pt x="250059" y="210888"/>
                    <a:pt x="249913" y="218187"/>
                    <a:pt x="246409" y="224075"/>
                  </a:cubicBezTo>
                  <a:cubicBezTo>
                    <a:pt x="242906" y="229962"/>
                    <a:pt x="236531" y="233563"/>
                    <a:pt x="229670" y="233563"/>
                  </a:cubicBezTo>
                  <a:lnTo>
                    <a:pt x="19464" y="233563"/>
                  </a:lnTo>
                  <a:cubicBezTo>
                    <a:pt x="12603" y="233563"/>
                    <a:pt x="6277" y="229962"/>
                    <a:pt x="2725" y="224075"/>
                  </a:cubicBezTo>
                  <a:cubicBezTo>
                    <a:pt x="-827" y="218187"/>
                    <a:pt x="-925" y="210888"/>
                    <a:pt x="2336" y="204854"/>
                  </a:cubicBezTo>
                  <a:lnTo>
                    <a:pt x="107439" y="10218"/>
                  </a:lnTo>
                  <a:cubicBezTo>
                    <a:pt x="110845" y="3941"/>
                    <a:pt x="117414" y="0"/>
                    <a:pt x="124567" y="0"/>
                  </a:cubicBezTo>
                  <a:close/>
                  <a:moveTo>
                    <a:pt x="124567" y="81747"/>
                  </a:moveTo>
                  <a:cubicBezTo>
                    <a:pt x="118095" y="81747"/>
                    <a:pt x="112889" y="86954"/>
                    <a:pt x="112889" y="93425"/>
                  </a:cubicBezTo>
                  <a:lnTo>
                    <a:pt x="112889" y="147923"/>
                  </a:lnTo>
                  <a:cubicBezTo>
                    <a:pt x="112889" y="154395"/>
                    <a:pt x="118095" y="159602"/>
                    <a:pt x="124567" y="159602"/>
                  </a:cubicBezTo>
                  <a:cubicBezTo>
                    <a:pt x="131039" y="159602"/>
                    <a:pt x="136245" y="154395"/>
                    <a:pt x="136245" y="147923"/>
                  </a:cubicBezTo>
                  <a:lnTo>
                    <a:pt x="136245" y="93425"/>
                  </a:lnTo>
                  <a:cubicBezTo>
                    <a:pt x="136245" y="86954"/>
                    <a:pt x="131039" y="81747"/>
                    <a:pt x="124567" y="81747"/>
                  </a:cubicBezTo>
                  <a:close/>
                  <a:moveTo>
                    <a:pt x="137559" y="186851"/>
                  </a:moveTo>
                  <a:cubicBezTo>
                    <a:pt x="137855" y="182028"/>
                    <a:pt x="135450" y="177440"/>
                    <a:pt x="131316" y="174939"/>
                  </a:cubicBezTo>
                  <a:cubicBezTo>
                    <a:pt x="127181" y="172439"/>
                    <a:pt x="122001" y="172439"/>
                    <a:pt x="117867" y="174939"/>
                  </a:cubicBezTo>
                  <a:cubicBezTo>
                    <a:pt x="113733" y="177440"/>
                    <a:pt x="111328" y="182028"/>
                    <a:pt x="111624" y="186851"/>
                  </a:cubicBezTo>
                  <a:cubicBezTo>
                    <a:pt x="111328" y="191673"/>
                    <a:pt x="113733" y="196261"/>
                    <a:pt x="117867" y="198762"/>
                  </a:cubicBezTo>
                  <a:cubicBezTo>
                    <a:pt x="122001" y="201262"/>
                    <a:pt x="127181" y="201262"/>
                    <a:pt x="131316" y="198762"/>
                  </a:cubicBezTo>
                  <a:cubicBezTo>
                    <a:pt x="135450" y="196261"/>
                    <a:pt x="137855" y="191673"/>
                    <a:pt x="137559" y="186851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1121103" y="5094792"/>
              <a:ext cx="6689251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962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主要问题类型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09686" y="5767454"/>
              <a:ext cx="99654" cy="99654"/>
            </a:xfrm>
            <a:custGeom>
              <a:avLst/>
              <a:gdLst/>
              <a:ahLst/>
              <a:cxnLst/>
              <a:rect l="l" t="t" r="r" b="b"/>
              <a:pathLst>
                <a:path w="99654" h="99654">
                  <a:moveTo>
                    <a:pt x="49827" y="0"/>
                  </a:moveTo>
                  <a:lnTo>
                    <a:pt x="49827" y="0"/>
                  </a:lnTo>
                  <a:cubicBezTo>
                    <a:pt x="77345" y="0"/>
                    <a:pt x="99654" y="22308"/>
                    <a:pt x="99654" y="49827"/>
                  </a:cubicBezTo>
                  <a:lnTo>
                    <a:pt x="99654" y="49827"/>
                  </a:lnTo>
                  <a:cubicBezTo>
                    <a:pt x="99654" y="77345"/>
                    <a:pt x="77345" y="99654"/>
                    <a:pt x="49827" y="99654"/>
                  </a:cubicBezTo>
                  <a:lnTo>
                    <a:pt x="49827" y="99654"/>
                  </a:lnTo>
                  <a:cubicBezTo>
                    <a:pt x="22308" y="99654"/>
                    <a:pt x="0" y="77345"/>
                    <a:pt x="0" y="49827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1058820" y="5642887"/>
              <a:ext cx="1681655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66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交互流程不顺畅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09686" y="6265723"/>
              <a:ext cx="99654" cy="99654"/>
            </a:xfrm>
            <a:custGeom>
              <a:avLst/>
              <a:gdLst/>
              <a:ahLst/>
              <a:cxnLst/>
              <a:rect l="l" t="t" r="r" b="b"/>
              <a:pathLst>
                <a:path w="99654" h="99654">
                  <a:moveTo>
                    <a:pt x="49827" y="0"/>
                  </a:moveTo>
                  <a:lnTo>
                    <a:pt x="49827" y="0"/>
                  </a:lnTo>
                  <a:cubicBezTo>
                    <a:pt x="77345" y="0"/>
                    <a:pt x="99654" y="22308"/>
                    <a:pt x="99654" y="49827"/>
                  </a:cubicBezTo>
                  <a:lnTo>
                    <a:pt x="99654" y="49827"/>
                  </a:lnTo>
                  <a:cubicBezTo>
                    <a:pt x="99654" y="77345"/>
                    <a:pt x="77345" y="99654"/>
                    <a:pt x="49827" y="99654"/>
                  </a:cubicBezTo>
                  <a:lnTo>
                    <a:pt x="49827" y="99654"/>
                  </a:lnTo>
                  <a:cubicBezTo>
                    <a:pt x="22308" y="99654"/>
                    <a:pt x="0" y="77345"/>
                    <a:pt x="0" y="49827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1058820" y="6141156"/>
              <a:ext cx="2130097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66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部分视觉反馈不明确</a:t>
              </a:r>
              <a:endParaRPr lang="en-US" sz="16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809686" y="6763991"/>
              <a:ext cx="99654" cy="99654"/>
            </a:xfrm>
            <a:custGeom>
              <a:avLst/>
              <a:gdLst/>
              <a:ahLst/>
              <a:cxnLst/>
              <a:rect l="l" t="t" r="r" b="b"/>
              <a:pathLst>
                <a:path w="99654" h="99654">
                  <a:moveTo>
                    <a:pt x="49827" y="0"/>
                  </a:moveTo>
                  <a:lnTo>
                    <a:pt x="49827" y="0"/>
                  </a:lnTo>
                  <a:cubicBezTo>
                    <a:pt x="77345" y="0"/>
                    <a:pt x="99654" y="22308"/>
                    <a:pt x="99654" y="49827"/>
                  </a:cubicBezTo>
                  <a:lnTo>
                    <a:pt x="99654" y="49827"/>
                  </a:lnTo>
                  <a:cubicBezTo>
                    <a:pt x="99654" y="77345"/>
                    <a:pt x="77345" y="99654"/>
                    <a:pt x="49827" y="99654"/>
                  </a:cubicBezTo>
                  <a:lnTo>
                    <a:pt x="49827" y="99654"/>
                  </a:lnTo>
                  <a:cubicBezTo>
                    <a:pt x="22308" y="99654"/>
                    <a:pt x="0" y="77345"/>
                    <a:pt x="0" y="49827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6D7275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1058820" y="6639424"/>
              <a:ext cx="3026979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66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功能入口缺失（如忘记密码）</a:t>
              </a:r>
              <a:endParaRPr lang="en-US" sz="16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258017" y="4789603"/>
              <a:ext cx="7486480" cy="2503798"/>
            </a:xfrm>
            <a:custGeom>
              <a:avLst/>
              <a:gdLst/>
              <a:ahLst/>
              <a:cxnLst/>
              <a:rect l="l" t="t" r="r" b="b"/>
              <a:pathLst>
                <a:path w="7486480" h="2503798">
                  <a:moveTo>
                    <a:pt x="149477" y="0"/>
                  </a:moveTo>
                  <a:lnTo>
                    <a:pt x="7337003" y="0"/>
                  </a:lnTo>
                  <a:cubicBezTo>
                    <a:pt x="7419557" y="0"/>
                    <a:pt x="7486480" y="66923"/>
                    <a:pt x="7486480" y="149477"/>
                  </a:cubicBezTo>
                  <a:lnTo>
                    <a:pt x="7486480" y="2354321"/>
                  </a:lnTo>
                  <a:cubicBezTo>
                    <a:pt x="7486480" y="2436875"/>
                    <a:pt x="7419557" y="2503798"/>
                    <a:pt x="7337003" y="2503798"/>
                  </a:cubicBezTo>
                  <a:lnTo>
                    <a:pt x="149477" y="2503798"/>
                  </a:lnTo>
                  <a:cubicBezTo>
                    <a:pt x="66923" y="2503798"/>
                    <a:pt x="0" y="2436875"/>
                    <a:pt x="0" y="2354321"/>
                  </a:cubicBezTo>
                  <a:lnTo>
                    <a:pt x="0" y="149477"/>
                  </a:lnTo>
                  <a:cubicBezTo>
                    <a:pt x="0" y="66978"/>
                    <a:pt x="66978" y="0"/>
                    <a:pt x="14947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 w="12700">
              <a:solidFill>
                <a:srgbClr val="3C8082">
                  <a:alpha val="30196"/>
                </a:srgbClr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609919" y="5144619"/>
              <a:ext cx="217992" cy="249134"/>
            </a:xfrm>
            <a:custGeom>
              <a:avLst/>
              <a:gdLst/>
              <a:ahLst/>
              <a:cxnLst/>
              <a:rect l="l" t="t" r="r" b="b"/>
              <a:pathLst>
                <a:path w="217992" h="249134">
                  <a:moveTo>
                    <a:pt x="31142" y="15571"/>
                  </a:moveTo>
                  <a:cubicBezTo>
                    <a:pt x="31142" y="6958"/>
                    <a:pt x="24184" y="0"/>
                    <a:pt x="15571" y="0"/>
                  </a:cubicBezTo>
                  <a:cubicBezTo>
                    <a:pt x="6958" y="0"/>
                    <a:pt x="0" y="6958"/>
                    <a:pt x="0" y="15571"/>
                  </a:cubicBezTo>
                  <a:lnTo>
                    <a:pt x="0" y="233563"/>
                  </a:lnTo>
                  <a:cubicBezTo>
                    <a:pt x="0" y="242176"/>
                    <a:pt x="6958" y="249134"/>
                    <a:pt x="15571" y="249134"/>
                  </a:cubicBezTo>
                  <a:cubicBezTo>
                    <a:pt x="24184" y="249134"/>
                    <a:pt x="31142" y="242176"/>
                    <a:pt x="31142" y="233563"/>
                  </a:cubicBezTo>
                  <a:lnTo>
                    <a:pt x="31142" y="174394"/>
                  </a:lnTo>
                  <a:lnTo>
                    <a:pt x="61651" y="165246"/>
                  </a:lnTo>
                  <a:cubicBezTo>
                    <a:pt x="82039" y="159115"/>
                    <a:pt x="104033" y="161013"/>
                    <a:pt x="123059" y="170550"/>
                  </a:cubicBezTo>
                  <a:cubicBezTo>
                    <a:pt x="143836" y="180963"/>
                    <a:pt x="168068" y="182228"/>
                    <a:pt x="189819" y="174053"/>
                  </a:cubicBezTo>
                  <a:lnTo>
                    <a:pt x="207871" y="167290"/>
                  </a:lnTo>
                  <a:cubicBezTo>
                    <a:pt x="213954" y="165003"/>
                    <a:pt x="217992" y="159212"/>
                    <a:pt x="217992" y="152692"/>
                  </a:cubicBezTo>
                  <a:lnTo>
                    <a:pt x="217992" y="32164"/>
                  </a:lnTo>
                  <a:cubicBezTo>
                    <a:pt x="217992" y="20972"/>
                    <a:pt x="206217" y="13673"/>
                    <a:pt x="196193" y="18685"/>
                  </a:cubicBezTo>
                  <a:lnTo>
                    <a:pt x="190451" y="21556"/>
                  </a:lnTo>
                  <a:cubicBezTo>
                    <a:pt x="168603" y="32504"/>
                    <a:pt x="142863" y="32504"/>
                    <a:pt x="120966" y="21556"/>
                  </a:cubicBezTo>
                  <a:cubicBezTo>
                    <a:pt x="103254" y="12700"/>
                    <a:pt x="82866" y="10948"/>
                    <a:pt x="63938" y="16641"/>
                  </a:cubicBezTo>
                  <a:lnTo>
                    <a:pt x="31142" y="26470"/>
                  </a:lnTo>
                  <a:lnTo>
                    <a:pt x="31142" y="15571"/>
                  </a:ln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37" name="Text 35"/>
            <p:cNvSpPr/>
            <p:nvPr/>
          </p:nvSpPr>
          <p:spPr>
            <a:xfrm>
              <a:off x="8874624" y="5094792"/>
              <a:ext cx="6689251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962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建议优先级分布</a:t>
              </a:r>
              <a:endParaRPr lang="en-US" sz="16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8912870" y="5717628"/>
              <a:ext cx="1594458" cy="597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708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3项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9062350" y="6415203"/>
              <a:ext cx="1295497" cy="548095"/>
            </a:xfrm>
            <a:custGeom>
              <a:avLst/>
              <a:gdLst/>
              <a:ahLst/>
              <a:cxnLst/>
              <a:rect l="l" t="t" r="r" b="b"/>
              <a:pathLst>
                <a:path w="1295497" h="548095">
                  <a:moveTo>
                    <a:pt x="99655" y="0"/>
                  </a:moveTo>
                  <a:lnTo>
                    <a:pt x="1195843" y="0"/>
                  </a:lnTo>
                  <a:cubicBezTo>
                    <a:pt x="1250880" y="0"/>
                    <a:pt x="1295497" y="44617"/>
                    <a:pt x="1295497" y="99655"/>
                  </a:cubicBezTo>
                  <a:lnTo>
                    <a:pt x="1295497" y="448440"/>
                  </a:lnTo>
                  <a:cubicBezTo>
                    <a:pt x="1295497" y="503478"/>
                    <a:pt x="1250880" y="548095"/>
                    <a:pt x="1195843" y="548095"/>
                  </a:cubicBezTo>
                  <a:lnTo>
                    <a:pt x="99655" y="548095"/>
                  </a:lnTo>
                  <a:cubicBezTo>
                    <a:pt x="44617" y="548095"/>
                    <a:pt x="0" y="503478"/>
                    <a:pt x="0" y="448440"/>
                  </a:cubicBezTo>
                  <a:lnTo>
                    <a:pt x="0" y="99655"/>
                  </a:lnTo>
                  <a:cubicBezTo>
                    <a:pt x="0" y="44654"/>
                    <a:pt x="44654" y="0"/>
                    <a:pt x="99655" y="0"/>
                  </a:cubicBezTo>
                  <a:close/>
                </a:path>
              </a:pathLst>
            </a:custGeom>
            <a:solidFill>
              <a:srgbClr val="7DAA92">
                <a:alpha val="20000"/>
              </a:srgbClr>
            </a:solidFill>
            <a:ln/>
          </p:spPr>
        </p:sp>
        <p:sp>
          <p:nvSpPr>
            <p:cNvPr id="40" name="Text 38"/>
            <p:cNvSpPr/>
            <p:nvPr/>
          </p:nvSpPr>
          <p:spPr>
            <a:xfrm>
              <a:off x="9205602" y="6514857"/>
              <a:ext cx="1008993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766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高优先级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1206752" y="5717628"/>
              <a:ext cx="1594458" cy="597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708" b="1" dirty="0">
                  <a:solidFill>
                    <a:srgbClr val="3C808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4项</a:t>
              </a:r>
              <a:endParaRPr lang="en-US" sz="16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11356233" y="6415203"/>
              <a:ext cx="1295497" cy="548095"/>
            </a:xfrm>
            <a:custGeom>
              <a:avLst/>
              <a:gdLst/>
              <a:ahLst/>
              <a:cxnLst/>
              <a:rect l="l" t="t" r="r" b="b"/>
              <a:pathLst>
                <a:path w="1295497" h="548095">
                  <a:moveTo>
                    <a:pt x="99655" y="0"/>
                  </a:moveTo>
                  <a:lnTo>
                    <a:pt x="1195843" y="0"/>
                  </a:lnTo>
                  <a:cubicBezTo>
                    <a:pt x="1250880" y="0"/>
                    <a:pt x="1295497" y="44617"/>
                    <a:pt x="1295497" y="99655"/>
                  </a:cubicBezTo>
                  <a:lnTo>
                    <a:pt x="1295497" y="448440"/>
                  </a:lnTo>
                  <a:cubicBezTo>
                    <a:pt x="1295497" y="503478"/>
                    <a:pt x="1250880" y="548095"/>
                    <a:pt x="1195843" y="548095"/>
                  </a:cubicBezTo>
                  <a:lnTo>
                    <a:pt x="99655" y="548095"/>
                  </a:lnTo>
                  <a:cubicBezTo>
                    <a:pt x="44617" y="548095"/>
                    <a:pt x="0" y="503478"/>
                    <a:pt x="0" y="448440"/>
                  </a:cubicBezTo>
                  <a:lnTo>
                    <a:pt x="0" y="99655"/>
                  </a:lnTo>
                  <a:cubicBezTo>
                    <a:pt x="0" y="44654"/>
                    <a:pt x="44654" y="0"/>
                    <a:pt x="99655" y="0"/>
                  </a:cubicBezTo>
                  <a:close/>
                </a:path>
              </a:pathLst>
            </a:custGeom>
            <a:solidFill>
              <a:srgbClr val="3C8082">
                <a:alpha val="20000"/>
              </a:srgbClr>
            </a:solidFill>
            <a:ln/>
          </p:spPr>
        </p:sp>
        <p:sp>
          <p:nvSpPr>
            <p:cNvPr id="43" name="Text 41"/>
            <p:cNvSpPr/>
            <p:nvPr/>
          </p:nvSpPr>
          <p:spPr>
            <a:xfrm>
              <a:off x="11499485" y="6514857"/>
              <a:ext cx="1008993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766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中优先级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13500635" y="5717628"/>
              <a:ext cx="1594458" cy="5979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708" b="1" dirty="0">
                  <a:solidFill>
                    <a:srgbClr val="6D727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2项</a:t>
              </a:r>
              <a:endParaRPr lang="en-US" sz="16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13650116" y="6415203"/>
              <a:ext cx="1295497" cy="548095"/>
            </a:xfrm>
            <a:custGeom>
              <a:avLst/>
              <a:gdLst/>
              <a:ahLst/>
              <a:cxnLst/>
              <a:rect l="l" t="t" r="r" b="b"/>
              <a:pathLst>
                <a:path w="1295497" h="548095">
                  <a:moveTo>
                    <a:pt x="99655" y="0"/>
                  </a:moveTo>
                  <a:lnTo>
                    <a:pt x="1195843" y="0"/>
                  </a:lnTo>
                  <a:cubicBezTo>
                    <a:pt x="1250880" y="0"/>
                    <a:pt x="1295497" y="44617"/>
                    <a:pt x="1295497" y="99655"/>
                  </a:cubicBezTo>
                  <a:lnTo>
                    <a:pt x="1295497" y="448440"/>
                  </a:lnTo>
                  <a:cubicBezTo>
                    <a:pt x="1295497" y="503478"/>
                    <a:pt x="1250880" y="548095"/>
                    <a:pt x="1195843" y="548095"/>
                  </a:cubicBezTo>
                  <a:lnTo>
                    <a:pt x="99655" y="548095"/>
                  </a:lnTo>
                  <a:cubicBezTo>
                    <a:pt x="44617" y="548095"/>
                    <a:pt x="0" y="503478"/>
                    <a:pt x="0" y="448440"/>
                  </a:cubicBezTo>
                  <a:lnTo>
                    <a:pt x="0" y="99655"/>
                  </a:lnTo>
                  <a:cubicBezTo>
                    <a:pt x="0" y="44654"/>
                    <a:pt x="44654" y="0"/>
                    <a:pt x="99655" y="0"/>
                  </a:cubicBezTo>
                  <a:close/>
                </a:path>
              </a:pathLst>
            </a:custGeom>
            <a:solidFill>
              <a:srgbClr val="6D7275">
                <a:alpha val="20000"/>
              </a:srgbClr>
            </a:solidFill>
            <a:ln/>
          </p:spPr>
        </p:sp>
        <p:sp>
          <p:nvSpPr>
            <p:cNvPr id="46" name="Text 44"/>
            <p:cNvSpPr/>
            <p:nvPr/>
          </p:nvSpPr>
          <p:spPr>
            <a:xfrm>
              <a:off x="13793368" y="6514857"/>
              <a:ext cx="1008993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766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低优先级</a:t>
              </a:r>
              <a:endParaRPr lang="en-US" sz="16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523182" y="7548763"/>
              <a:ext cx="15234550" cy="1594458"/>
            </a:xfrm>
            <a:custGeom>
              <a:avLst/>
              <a:gdLst/>
              <a:ahLst/>
              <a:cxnLst/>
              <a:rect l="l" t="t" r="r" b="b"/>
              <a:pathLst>
                <a:path w="15234550" h="1594458">
                  <a:moveTo>
                    <a:pt x="49827" y="0"/>
                  </a:moveTo>
                  <a:lnTo>
                    <a:pt x="15085070" y="0"/>
                  </a:lnTo>
                  <a:cubicBezTo>
                    <a:pt x="15167626" y="0"/>
                    <a:pt x="15234550" y="66925"/>
                    <a:pt x="15234550" y="149480"/>
                  </a:cubicBezTo>
                  <a:lnTo>
                    <a:pt x="15234550" y="1444978"/>
                  </a:lnTo>
                  <a:cubicBezTo>
                    <a:pt x="15234550" y="1527534"/>
                    <a:pt x="15167626" y="1594458"/>
                    <a:pt x="15085070" y="1594458"/>
                  </a:cubicBezTo>
                  <a:lnTo>
                    <a:pt x="49827" y="1594458"/>
                  </a:lnTo>
                  <a:cubicBezTo>
                    <a:pt x="22308" y="1594458"/>
                    <a:pt x="0" y="1572150"/>
                    <a:pt x="0" y="154463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>
                <a:alpha val="10196"/>
              </a:srgbClr>
            </a:solidFill>
            <a:ln/>
          </p:spPr>
        </p:sp>
        <p:sp>
          <p:nvSpPr>
            <p:cNvPr id="48" name="Shape 46"/>
            <p:cNvSpPr/>
            <p:nvPr/>
          </p:nvSpPr>
          <p:spPr>
            <a:xfrm>
              <a:off x="523182" y="7548763"/>
              <a:ext cx="49827" cy="1594458"/>
            </a:xfrm>
            <a:custGeom>
              <a:avLst/>
              <a:gdLst/>
              <a:ahLst/>
              <a:cxnLst/>
              <a:rect l="l" t="t" r="r" b="b"/>
              <a:pathLst>
                <a:path w="49827" h="1594458">
                  <a:moveTo>
                    <a:pt x="49827" y="0"/>
                  </a:moveTo>
                  <a:lnTo>
                    <a:pt x="49827" y="0"/>
                  </a:lnTo>
                  <a:lnTo>
                    <a:pt x="49827" y="1594458"/>
                  </a:lnTo>
                  <a:lnTo>
                    <a:pt x="49827" y="1594458"/>
                  </a:lnTo>
                  <a:cubicBezTo>
                    <a:pt x="22308" y="1594458"/>
                    <a:pt x="0" y="1572150"/>
                    <a:pt x="0" y="1544631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49" name="Shape 47"/>
            <p:cNvSpPr/>
            <p:nvPr/>
          </p:nvSpPr>
          <p:spPr>
            <a:xfrm>
              <a:off x="834599" y="7847724"/>
              <a:ext cx="224221" cy="298961"/>
            </a:xfrm>
            <a:custGeom>
              <a:avLst/>
              <a:gdLst/>
              <a:ahLst/>
              <a:cxnLst/>
              <a:rect l="l" t="t" r="r" b="b"/>
              <a:pathLst>
                <a:path w="224221" h="298961">
                  <a:moveTo>
                    <a:pt x="171027" y="224221"/>
                  </a:moveTo>
                  <a:cubicBezTo>
                    <a:pt x="175289" y="211200"/>
                    <a:pt x="183814" y="199405"/>
                    <a:pt x="193449" y="189245"/>
                  </a:cubicBezTo>
                  <a:cubicBezTo>
                    <a:pt x="212543" y="169158"/>
                    <a:pt x="224221" y="142006"/>
                    <a:pt x="224221" y="112110"/>
                  </a:cubicBezTo>
                  <a:cubicBezTo>
                    <a:pt x="224221" y="50216"/>
                    <a:pt x="174005" y="0"/>
                    <a:pt x="112110" y="0"/>
                  </a:cubicBezTo>
                  <a:cubicBezTo>
                    <a:pt x="50216" y="0"/>
                    <a:pt x="0" y="50216"/>
                    <a:pt x="0" y="112110"/>
                  </a:cubicBezTo>
                  <a:cubicBezTo>
                    <a:pt x="0" y="142006"/>
                    <a:pt x="11678" y="169158"/>
                    <a:pt x="30772" y="189245"/>
                  </a:cubicBezTo>
                  <a:cubicBezTo>
                    <a:pt x="40406" y="199405"/>
                    <a:pt x="48990" y="211200"/>
                    <a:pt x="53194" y="224221"/>
                  </a:cubicBezTo>
                  <a:lnTo>
                    <a:pt x="170968" y="224221"/>
                  </a:lnTo>
                  <a:close/>
                  <a:moveTo>
                    <a:pt x="168166" y="252248"/>
                  </a:moveTo>
                  <a:lnTo>
                    <a:pt x="56055" y="252248"/>
                  </a:lnTo>
                  <a:lnTo>
                    <a:pt x="56055" y="261591"/>
                  </a:lnTo>
                  <a:cubicBezTo>
                    <a:pt x="56055" y="287400"/>
                    <a:pt x="76959" y="308303"/>
                    <a:pt x="102768" y="308303"/>
                  </a:cubicBezTo>
                  <a:lnTo>
                    <a:pt x="121453" y="308303"/>
                  </a:lnTo>
                  <a:cubicBezTo>
                    <a:pt x="147262" y="308303"/>
                    <a:pt x="168166" y="287400"/>
                    <a:pt x="168166" y="261591"/>
                  </a:cubicBezTo>
                  <a:lnTo>
                    <a:pt x="168166" y="252248"/>
                  </a:lnTo>
                  <a:close/>
                  <a:moveTo>
                    <a:pt x="107439" y="65398"/>
                  </a:moveTo>
                  <a:cubicBezTo>
                    <a:pt x="84200" y="65398"/>
                    <a:pt x="65398" y="84200"/>
                    <a:pt x="65398" y="107439"/>
                  </a:cubicBezTo>
                  <a:cubicBezTo>
                    <a:pt x="65398" y="115205"/>
                    <a:pt x="59150" y="121453"/>
                    <a:pt x="51384" y="121453"/>
                  </a:cubicBezTo>
                  <a:cubicBezTo>
                    <a:pt x="43618" y="121453"/>
                    <a:pt x="37370" y="115205"/>
                    <a:pt x="37370" y="107439"/>
                  </a:cubicBezTo>
                  <a:cubicBezTo>
                    <a:pt x="37370" y="68726"/>
                    <a:pt x="68726" y="37370"/>
                    <a:pt x="107439" y="37370"/>
                  </a:cubicBezTo>
                  <a:cubicBezTo>
                    <a:pt x="115205" y="37370"/>
                    <a:pt x="121453" y="43618"/>
                    <a:pt x="121453" y="51384"/>
                  </a:cubicBezTo>
                  <a:cubicBezTo>
                    <a:pt x="121453" y="59150"/>
                    <a:pt x="115205" y="65398"/>
                    <a:pt x="107439" y="65398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50" name="Text 48"/>
            <p:cNvSpPr/>
            <p:nvPr/>
          </p:nvSpPr>
          <p:spPr>
            <a:xfrm>
              <a:off x="1245670" y="7797897"/>
              <a:ext cx="14375038" cy="3487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766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总体评估</a:t>
              </a:r>
              <a:endParaRPr lang="en-US" sz="1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1245670" y="8246339"/>
              <a:ext cx="14362581" cy="6477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569" dirty="0">
                  <a:solidFill>
                    <a:srgbClr val="F0F2F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KitchenPal在Android平台兼容性表现优秀，8款机型全部通过测试，核心功能流程基本通畅。用户反馈主要集中在交互细节与流程优化上，</a:t>
              </a:r>
              <a:r>
                <a:rPr lang="en-US" sz="1569" b="1" dirty="0">
                  <a:solidFill>
                    <a:srgbClr val="F0F2F5">
                      <a:alpha val="80000"/>
                    </a:srgbClr>
                  </a:solidFill>
                  <a:highlight>
                    <a:srgbClr val="7DAA92">
                      <a:alpha val="30000"/>
                    </a:srgbClr>
                  </a:highlight>
                  <a:latin typeface="MiSans" pitchFamily="34" charset="0"/>
                  <a:ea typeface="MiSans" pitchFamily="34" charset="-122"/>
                  <a:cs typeface="MiSans" pitchFamily="34" charset="-120"/>
                </a:rPr>
                <a:t> 未出现崩溃、安装失败等致命问题 </a:t>
              </a:r>
              <a:r>
                <a:rPr lang="en-US" sz="1569" dirty="0">
                  <a:solidFill>
                    <a:srgbClr val="F0F2F5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，UI设计清晰、视觉友好，具备上线的基础条件。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67D17-B9DE-57D0-E610-F4DDD5F40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>
            <a:extLst>
              <a:ext uri="{FF2B5EF4-FFF2-40B4-BE49-F238E27FC236}">
                <a16:creationId xmlns:a16="http://schemas.microsoft.com/office/drawing/2014/main" id="{976846B1-14B7-F5A1-720C-E561974DDC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228DC3B-5592-E0D6-F319-4756A6EDAD5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2711EFF-FE00-C876-2FF5-675CCDD775CE}"/>
              </a:ext>
            </a:extLst>
          </p:cNvPr>
          <p:cNvSpPr/>
          <p:nvPr/>
        </p:nvSpPr>
        <p:spPr>
          <a:xfrm>
            <a:off x="5669625" y="2641600"/>
            <a:ext cx="4916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PART TWO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BD0F8E3-923A-A2B0-A6F0-1D42076B042E}"/>
              </a:ext>
            </a:extLst>
          </p:cNvPr>
          <p:cNvSpPr/>
          <p:nvPr/>
        </p:nvSpPr>
        <p:spPr>
          <a:xfrm>
            <a:off x="6113756" y="4450857"/>
            <a:ext cx="402848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zh-CN" altLang="en-US" sz="4800" b="1" dirty="0">
                <a:solidFill>
                  <a:srgbClr val="7DAA92"/>
                </a:solidFill>
                <a:latin typeface="阿里妈妈数黑体" pitchFamily="34" charset="0"/>
                <a:ea typeface="阿里妈妈数黑体" pitchFamily="34" charset="-122"/>
              </a:rPr>
              <a:t>测试详情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293222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4350" y="628722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兼容性测试机型覆盖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308906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E5D21C-68AE-DD73-5FF4-B56B87D15ECE}"/>
              </a:ext>
            </a:extLst>
          </p:cNvPr>
          <p:cNvGrpSpPr/>
          <p:nvPr/>
        </p:nvGrpSpPr>
        <p:grpSpPr>
          <a:xfrm>
            <a:off x="514350" y="1627775"/>
            <a:ext cx="15227300" cy="949325"/>
            <a:chOff x="508000" y="1934737"/>
            <a:chExt cx="15227300" cy="949325"/>
          </a:xfrm>
        </p:grpSpPr>
        <p:sp>
          <p:nvSpPr>
            <p:cNvPr id="5" name="Shape 3"/>
            <p:cNvSpPr/>
            <p:nvPr/>
          </p:nvSpPr>
          <p:spPr>
            <a:xfrm>
              <a:off x="508000" y="1934737"/>
              <a:ext cx="15227300" cy="949325"/>
            </a:xfrm>
            <a:custGeom>
              <a:avLst/>
              <a:gdLst/>
              <a:ahLst/>
              <a:cxnLst/>
              <a:rect l="l" t="t" r="r" b="b"/>
              <a:pathLst>
                <a:path w="15227300" h="1346200">
                  <a:moveTo>
                    <a:pt x="152403" y="0"/>
                  </a:moveTo>
                  <a:lnTo>
                    <a:pt x="15074897" y="0"/>
                  </a:lnTo>
                  <a:cubicBezTo>
                    <a:pt x="15159067" y="0"/>
                    <a:pt x="15227300" y="68233"/>
                    <a:pt x="15227300" y="152403"/>
                  </a:cubicBezTo>
                  <a:lnTo>
                    <a:pt x="15227300" y="1193797"/>
                  </a:lnTo>
                  <a:cubicBezTo>
                    <a:pt x="15227300" y="1277967"/>
                    <a:pt x="15159067" y="1346200"/>
                    <a:pt x="15074897" y="1346200"/>
                  </a:cubicBezTo>
                  <a:lnTo>
                    <a:pt x="152403" y="1346200"/>
                  </a:lnTo>
                  <a:cubicBezTo>
                    <a:pt x="68233" y="1346200"/>
                    <a:pt x="0" y="1277967"/>
                    <a:pt x="0" y="1193797"/>
                  </a:cubicBezTo>
                  <a:lnTo>
                    <a:pt x="0" y="152403"/>
                  </a:lnTo>
                  <a:cubicBezTo>
                    <a:pt x="0" y="68233"/>
                    <a:pt x="68233" y="0"/>
                    <a:pt x="152403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 w="12700">
              <a:solidFill>
                <a:srgbClr val="3C8082">
                  <a:alpha val="30196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768350" y="2167637"/>
              <a:ext cx="609600" cy="473656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312" y="0"/>
                    <a:pt x="609600" y="68288"/>
                    <a:pt x="609600" y="152400"/>
                  </a:cubicBezTo>
                  <a:lnTo>
                    <a:pt x="609600" y="457200"/>
                  </a:lnTo>
                  <a:cubicBezTo>
                    <a:pt x="609600" y="541312"/>
                    <a:pt x="541312" y="609600"/>
                    <a:pt x="457200" y="609600"/>
                  </a:cubicBezTo>
                  <a:lnTo>
                    <a:pt x="152400" y="609600"/>
                  </a:lnTo>
                  <a:cubicBezTo>
                    <a:pt x="68288" y="609600"/>
                    <a:pt x="0" y="541312"/>
                    <a:pt x="0" y="457200"/>
                  </a:cubicBezTo>
                  <a:lnTo>
                    <a:pt x="0" y="152400"/>
                  </a:lnTo>
                  <a:cubicBezTo>
                    <a:pt x="0" y="68288"/>
                    <a:pt x="68288" y="0"/>
                    <a:pt x="152400" y="0"/>
                  </a:cubicBezTo>
                  <a:close/>
                </a:path>
              </a:pathLst>
            </a:custGeom>
            <a:solidFill>
              <a:srgbClr val="7DAA92">
                <a:alpha val="30196"/>
              </a:srgbClr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977900" y="2305787"/>
              <a:ext cx="190500" cy="197357"/>
            </a:xfrm>
            <a:custGeom>
              <a:avLst/>
              <a:gdLst/>
              <a:ahLst/>
              <a:cxnLst/>
              <a:rect l="l" t="t" r="r" b="b"/>
              <a:pathLst>
                <a:path w="190500" h="254000">
                  <a:moveTo>
                    <a:pt x="7938" y="31750"/>
                  </a:moveTo>
                  <a:cubicBezTo>
                    <a:pt x="7938" y="14238"/>
                    <a:pt x="22175" y="0"/>
                    <a:pt x="39688" y="0"/>
                  </a:cubicBezTo>
                  <a:lnTo>
                    <a:pt x="150813" y="0"/>
                  </a:lnTo>
                  <a:cubicBezTo>
                    <a:pt x="168325" y="0"/>
                    <a:pt x="182563" y="14238"/>
                    <a:pt x="182563" y="31750"/>
                  </a:cubicBezTo>
                  <a:lnTo>
                    <a:pt x="182563" y="222250"/>
                  </a:lnTo>
                  <a:cubicBezTo>
                    <a:pt x="182563" y="239762"/>
                    <a:pt x="168325" y="254000"/>
                    <a:pt x="150813" y="254000"/>
                  </a:cubicBezTo>
                  <a:lnTo>
                    <a:pt x="39688" y="254000"/>
                  </a:lnTo>
                  <a:cubicBezTo>
                    <a:pt x="22175" y="254000"/>
                    <a:pt x="7938" y="239762"/>
                    <a:pt x="7938" y="222250"/>
                  </a:cubicBezTo>
                  <a:lnTo>
                    <a:pt x="7938" y="31750"/>
                  </a:lnTo>
                  <a:close/>
                  <a:moveTo>
                    <a:pt x="39688" y="31750"/>
                  </a:moveTo>
                  <a:lnTo>
                    <a:pt x="39688" y="182563"/>
                  </a:lnTo>
                  <a:lnTo>
                    <a:pt x="150813" y="182563"/>
                  </a:lnTo>
                  <a:lnTo>
                    <a:pt x="150813" y="31750"/>
                  </a:lnTo>
                  <a:lnTo>
                    <a:pt x="39688" y="31750"/>
                  </a:lnTo>
                  <a:close/>
                  <a:moveTo>
                    <a:pt x="95250" y="234156"/>
                  </a:moveTo>
                  <a:cubicBezTo>
                    <a:pt x="104031" y="234156"/>
                    <a:pt x="111125" y="227062"/>
                    <a:pt x="111125" y="218281"/>
                  </a:cubicBezTo>
                  <a:cubicBezTo>
                    <a:pt x="111125" y="209500"/>
                    <a:pt x="104031" y="202406"/>
                    <a:pt x="95250" y="202406"/>
                  </a:cubicBezTo>
                  <a:cubicBezTo>
                    <a:pt x="86469" y="202406"/>
                    <a:pt x="79375" y="209500"/>
                    <a:pt x="79375" y="218281"/>
                  </a:cubicBezTo>
                  <a:cubicBezTo>
                    <a:pt x="79375" y="227062"/>
                    <a:pt x="86469" y="234156"/>
                    <a:pt x="95250" y="234156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581150" y="2068959"/>
              <a:ext cx="2628900" cy="236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600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测试机型总数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581150" y="2409359"/>
              <a:ext cx="2717800" cy="365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800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8款 </a:t>
              </a:r>
              <a:r>
                <a:rPr lang="en-US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(通过率: 100%)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381754" y="2082755"/>
              <a:ext cx="2095500" cy="236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600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系统版本覆盖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356354" y="2409359"/>
              <a:ext cx="2146300" cy="3157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400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Android 9 ~ 12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2633424" y="2167637"/>
              <a:ext cx="12700" cy="473656"/>
            </a:xfrm>
            <a:custGeom>
              <a:avLst/>
              <a:gdLst/>
              <a:ahLst/>
              <a:cxnLst/>
              <a:rect l="l" t="t" r="r" b="b"/>
              <a:pathLst>
                <a:path w="12700" h="609600">
                  <a:moveTo>
                    <a:pt x="0" y="0"/>
                  </a:moveTo>
                  <a:lnTo>
                    <a:pt x="12700" y="0"/>
                  </a:lnTo>
                  <a:lnTo>
                    <a:pt x="127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8082">
                <a:alpha val="50196"/>
              </a:srgbClr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12798524" y="2088882"/>
              <a:ext cx="2730500" cy="236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600" b="1" dirty="0">
                  <a:solidFill>
                    <a:srgbClr val="7DAA92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分辨率覆盖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2798524" y="2409359"/>
              <a:ext cx="2781300" cy="3157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2400" b="1" dirty="0">
                  <a:solidFill>
                    <a:srgbClr val="F0F2F5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1080x2340 ~ 2400</a:t>
              </a:r>
              <a:endParaRPr lang="en-US" sz="160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520700" y="2780300"/>
            <a:ext cx="15227300" cy="5916025"/>
          </a:xfrm>
          <a:custGeom>
            <a:avLst/>
            <a:gdLst/>
            <a:ahLst/>
            <a:cxnLst/>
            <a:rect l="l" t="t" r="r" b="b"/>
            <a:pathLst>
              <a:path w="15227300" h="5092700">
                <a:moveTo>
                  <a:pt x="152425" y="0"/>
                </a:moveTo>
                <a:lnTo>
                  <a:pt x="15074875" y="0"/>
                </a:lnTo>
                <a:cubicBezTo>
                  <a:pt x="15159057" y="0"/>
                  <a:pt x="15227300" y="68243"/>
                  <a:pt x="15227300" y="152425"/>
                </a:cubicBezTo>
                <a:lnTo>
                  <a:pt x="15227300" y="4940275"/>
                </a:lnTo>
                <a:cubicBezTo>
                  <a:pt x="15227300" y="5024457"/>
                  <a:pt x="15159057" y="5092700"/>
                  <a:pt x="15074875" y="5092700"/>
                </a:cubicBezTo>
                <a:lnTo>
                  <a:pt x="152425" y="5092700"/>
                </a:lnTo>
                <a:cubicBezTo>
                  <a:pt x="68243" y="5092700"/>
                  <a:pt x="0" y="5024457"/>
                  <a:pt x="0" y="4940275"/>
                </a:cubicBezTo>
                <a:lnTo>
                  <a:pt x="0" y="152425"/>
                </a:lnTo>
                <a:cubicBezTo>
                  <a:pt x="0" y="68299"/>
                  <a:pt x="68299" y="0"/>
                  <a:pt x="15242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586721"/>
              </p:ext>
            </p:extLst>
          </p:nvPr>
        </p:nvGraphicFramePr>
        <p:xfrm>
          <a:off x="774700" y="2859585"/>
          <a:ext cx="14706600" cy="5721327"/>
        </p:xfrm>
        <a:graphic>
          <a:graphicData uri="http://schemas.openxmlformats.org/drawingml/2006/table">
            <a:tbl>
              <a:tblPr/>
              <a:tblGrid>
                <a:gridCol w="200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4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570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品牌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系统版本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分辨率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测试结果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华为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Mate 30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1080x2340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小米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Redmi Note 9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1080x2340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三星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Galaxy A51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1080x2400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OPPO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Reno 4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1080x2400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vivo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Y70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1080x2400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荣耀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9X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9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1080x2340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一加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8T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11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1080x2400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5703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谷歌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Pixel 4a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12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1080x2340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8000" y="580181"/>
            <a:ext cx="6096000" cy="1600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问题分布</a:t>
            </a:r>
            <a:r>
              <a:rPr lang="en-US" altLang="zh-CN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</a:rPr>
              <a:t>与等级</a:t>
            </a:r>
          </a:p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2040383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" name="Shape 4"/>
          <p:cNvSpPr/>
          <p:nvPr/>
        </p:nvSpPr>
        <p:spPr>
          <a:xfrm>
            <a:off x="520700" y="2402333"/>
            <a:ext cx="5778500" cy="5981700"/>
          </a:xfrm>
          <a:custGeom>
            <a:avLst/>
            <a:gdLst/>
            <a:ahLst/>
            <a:cxnLst/>
            <a:rect l="l" t="t" r="r" b="b"/>
            <a:pathLst>
              <a:path w="5778500" h="5981700">
                <a:moveTo>
                  <a:pt x="152379" y="0"/>
                </a:moveTo>
                <a:lnTo>
                  <a:pt x="5626121" y="0"/>
                </a:lnTo>
                <a:cubicBezTo>
                  <a:pt x="5710278" y="0"/>
                  <a:pt x="5778500" y="68222"/>
                  <a:pt x="5778500" y="152379"/>
                </a:cubicBezTo>
                <a:lnTo>
                  <a:pt x="5778500" y="5829321"/>
                </a:lnTo>
                <a:cubicBezTo>
                  <a:pt x="5778500" y="5913478"/>
                  <a:pt x="5710278" y="5981700"/>
                  <a:pt x="5626121" y="5981700"/>
                </a:cubicBezTo>
                <a:lnTo>
                  <a:pt x="152379" y="5981700"/>
                </a:lnTo>
                <a:cubicBezTo>
                  <a:pt x="68222" y="5981700"/>
                  <a:pt x="0" y="5913478"/>
                  <a:pt x="0" y="5829321"/>
                </a:cubicBezTo>
                <a:lnTo>
                  <a:pt x="0" y="152379"/>
                </a:lnTo>
                <a:cubicBezTo>
                  <a:pt x="0" y="68222"/>
                  <a:pt x="68222" y="0"/>
                  <a:pt x="152379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1850" y="2713483"/>
            <a:ext cx="528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问题等级说明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" y="367441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2400" y="0"/>
                </a:moveTo>
                <a:lnTo>
                  <a:pt x="355600" y="0"/>
                </a:lnTo>
                <a:cubicBezTo>
                  <a:pt x="439712" y="0"/>
                  <a:pt x="508000" y="68288"/>
                  <a:pt x="508000" y="152400"/>
                </a:cubicBezTo>
                <a:lnTo>
                  <a:pt x="508000" y="355600"/>
                </a:lnTo>
                <a:cubicBezTo>
                  <a:pt x="508000" y="439712"/>
                  <a:pt x="439712" y="508000"/>
                  <a:pt x="355600" y="508000"/>
                </a:cubicBezTo>
                <a:lnTo>
                  <a:pt x="152400" y="508000"/>
                </a:lnTo>
                <a:cubicBezTo>
                  <a:pt x="68288" y="508000"/>
                  <a:pt x="0" y="439712"/>
                  <a:pt x="0" y="35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4250" y="382681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1492250" y="3674417"/>
            <a:ext cx="438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2250" y="4080817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影响核心功能使用，导致用户无法正常完成任务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" y="534228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2400" y="0"/>
                </a:moveTo>
                <a:lnTo>
                  <a:pt x="355600" y="0"/>
                </a:lnTo>
                <a:cubicBezTo>
                  <a:pt x="439712" y="0"/>
                  <a:pt x="508000" y="68288"/>
                  <a:pt x="508000" y="152400"/>
                </a:cubicBezTo>
                <a:lnTo>
                  <a:pt x="508000" y="355600"/>
                </a:lnTo>
                <a:cubicBezTo>
                  <a:pt x="508000" y="439712"/>
                  <a:pt x="439712" y="508000"/>
                  <a:pt x="355600" y="508000"/>
                </a:cubicBezTo>
                <a:lnTo>
                  <a:pt x="152400" y="508000"/>
                </a:lnTo>
                <a:cubicBezTo>
                  <a:pt x="68288" y="508000"/>
                  <a:pt x="0" y="439712"/>
                  <a:pt x="0" y="35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B100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4250" y="549468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14" name="Text 12"/>
          <p:cNvSpPr/>
          <p:nvPr/>
        </p:nvSpPr>
        <p:spPr>
          <a:xfrm>
            <a:off x="1492250" y="5342284"/>
            <a:ext cx="377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2250" y="5748684"/>
            <a:ext cx="37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影响用户体验，但有替代方案或影响较小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850" y="70101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2400" y="0"/>
                </a:moveTo>
                <a:lnTo>
                  <a:pt x="355600" y="0"/>
                </a:lnTo>
                <a:cubicBezTo>
                  <a:pt x="439712" y="0"/>
                  <a:pt x="508000" y="68288"/>
                  <a:pt x="508000" y="152400"/>
                </a:cubicBezTo>
                <a:lnTo>
                  <a:pt x="508000" y="355600"/>
                </a:lnTo>
                <a:cubicBezTo>
                  <a:pt x="508000" y="439712"/>
                  <a:pt x="439712" y="508000"/>
                  <a:pt x="355600" y="508000"/>
                </a:cubicBezTo>
                <a:lnTo>
                  <a:pt x="152400" y="508000"/>
                </a:lnTo>
                <a:cubicBezTo>
                  <a:pt x="68288" y="508000"/>
                  <a:pt x="0" y="439712"/>
                  <a:pt x="0" y="35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B7FF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4250" y="716255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92250" y="7010151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2250" y="7416551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功能建议或优化点，不影响当前使用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10350" y="920133"/>
            <a:ext cx="9131300" cy="7452618"/>
          </a:xfrm>
          <a:custGeom>
            <a:avLst/>
            <a:gdLst/>
            <a:ahLst/>
            <a:cxnLst/>
            <a:rect l="l" t="t" r="r" b="b"/>
            <a:pathLst>
              <a:path w="9131300" h="8115300">
                <a:moveTo>
                  <a:pt x="152405" y="0"/>
                </a:moveTo>
                <a:lnTo>
                  <a:pt x="8978895" y="0"/>
                </a:lnTo>
                <a:cubicBezTo>
                  <a:pt x="9063066" y="0"/>
                  <a:pt x="9131300" y="68234"/>
                  <a:pt x="9131300" y="152405"/>
                </a:cubicBezTo>
                <a:lnTo>
                  <a:pt x="9131300" y="7962895"/>
                </a:lnTo>
                <a:cubicBezTo>
                  <a:pt x="9131300" y="8047066"/>
                  <a:pt x="9063066" y="8115300"/>
                  <a:pt x="8978895" y="8115300"/>
                </a:cubicBezTo>
                <a:lnTo>
                  <a:pt x="152405" y="8115300"/>
                </a:lnTo>
                <a:cubicBezTo>
                  <a:pt x="68234" y="8115300"/>
                  <a:pt x="0" y="8047066"/>
                  <a:pt x="0" y="79628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3250" y="128208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2" name="Text 20"/>
          <p:cNvSpPr/>
          <p:nvPr/>
        </p:nvSpPr>
        <p:spPr>
          <a:xfrm>
            <a:off x="7239000" y="1231283"/>
            <a:ext cx="831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问题分布（基于用户反馈</a:t>
            </a: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pic>
        <p:nvPicPr>
          <p:cNvPr id="23" name="Image 0" descr="https://kimi-img.moonshot.cn/pub/slides/25-12-22-01:34:00-d542v22nae7cfjd0se9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21500" y="1790083"/>
            <a:ext cx="8509000" cy="6096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8268" y="597922"/>
            <a:ext cx="15558425" cy="59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08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问题详解1：手动录入流程繁琐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8268" y="1345324"/>
            <a:ext cx="1195844" cy="49827"/>
          </a:xfrm>
          <a:custGeom>
            <a:avLst/>
            <a:gdLst/>
            <a:ahLst/>
            <a:cxnLst/>
            <a:rect l="l" t="t" r="r" b="b"/>
            <a:pathLst>
              <a:path w="1195844" h="49827">
                <a:moveTo>
                  <a:pt x="0" y="0"/>
                </a:moveTo>
                <a:lnTo>
                  <a:pt x="1195844" y="0"/>
                </a:lnTo>
                <a:lnTo>
                  <a:pt x="1195844" y="49827"/>
                </a:lnTo>
                <a:lnTo>
                  <a:pt x="0" y="49827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23182" y="1631829"/>
            <a:ext cx="7449110" cy="3637357"/>
          </a:xfrm>
          <a:custGeom>
            <a:avLst/>
            <a:gdLst/>
            <a:ahLst/>
            <a:cxnLst/>
            <a:rect l="l" t="t" r="r" b="b"/>
            <a:pathLst>
              <a:path w="7449110" h="3475421">
                <a:moveTo>
                  <a:pt x="49827" y="0"/>
                </a:moveTo>
                <a:lnTo>
                  <a:pt x="7299632" y="0"/>
                </a:lnTo>
                <a:cubicBezTo>
                  <a:pt x="7382186" y="0"/>
                  <a:pt x="7449110" y="66924"/>
                  <a:pt x="7449110" y="149478"/>
                </a:cubicBezTo>
                <a:lnTo>
                  <a:pt x="7449110" y="3325943"/>
                </a:lnTo>
                <a:cubicBezTo>
                  <a:pt x="7449110" y="3408497"/>
                  <a:pt x="7382186" y="3475421"/>
                  <a:pt x="7299632" y="3475421"/>
                </a:cubicBezTo>
                <a:lnTo>
                  <a:pt x="49827" y="3475421"/>
                </a:lnTo>
                <a:cubicBezTo>
                  <a:pt x="22308" y="3475421"/>
                  <a:pt x="0" y="3453112"/>
                  <a:pt x="0" y="3425594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182" y="1631829"/>
            <a:ext cx="49827" cy="3637357"/>
          </a:xfrm>
          <a:custGeom>
            <a:avLst/>
            <a:gdLst/>
            <a:ahLst/>
            <a:cxnLst/>
            <a:rect l="l" t="t" r="r" b="b"/>
            <a:pathLst>
              <a:path w="49827" h="3475421">
                <a:moveTo>
                  <a:pt x="49827" y="0"/>
                </a:moveTo>
                <a:lnTo>
                  <a:pt x="49827" y="0"/>
                </a:lnTo>
                <a:lnTo>
                  <a:pt x="49827" y="3475421"/>
                </a:lnTo>
                <a:lnTo>
                  <a:pt x="49827" y="3475421"/>
                </a:lnTo>
                <a:cubicBezTo>
                  <a:pt x="22308" y="3475421"/>
                  <a:pt x="0" y="3453112"/>
                  <a:pt x="0" y="3425594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8198" y="2130945"/>
            <a:ext cx="249134" cy="260742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249134"/>
                </a:moveTo>
                <a:cubicBezTo>
                  <a:pt x="193317" y="249134"/>
                  <a:pt x="249134" y="193317"/>
                  <a:pt x="249134" y="124567"/>
                </a:cubicBezTo>
                <a:cubicBezTo>
                  <a:pt x="249134" y="55817"/>
                  <a:pt x="193317" y="0"/>
                  <a:pt x="124567" y="0"/>
                </a:cubicBezTo>
                <a:cubicBezTo>
                  <a:pt x="55817" y="0"/>
                  <a:pt x="0" y="55817"/>
                  <a:pt x="0" y="124567"/>
                </a:cubicBezTo>
                <a:cubicBezTo>
                  <a:pt x="0" y="193317"/>
                  <a:pt x="55817" y="249134"/>
                  <a:pt x="124567" y="249134"/>
                </a:cubicBezTo>
                <a:close/>
                <a:moveTo>
                  <a:pt x="124567" y="66176"/>
                </a:moveTo>
                <a:cubicBezTo>
                  <a:pt x="131039" y="66176"/>
                  <a:pt x="136245" y="71383"/>
                  <a:pt x="136245" y="77854"/>
                </a:cubicBezTo>
                <a:lnTo>
                  <a:pt x="136245" y="132352"/>
                </a:lnTo>
                <a:cubicBezTo>
                  <a:pt x="136245" y="138824"/>
                  <a:pt x="131039" y="144031"/>
                  <a:pt x="124567" y="144031"/>
                </a:cubicBezTo>
                <a:cubicBezTo>
                  <a:pt x="118095" y="144031"/>
                  <a:pt x="112889" y="138824"/>
                  <a:pt x="112889" y="132352"/>
                </a:cubicBezTo>
                <a:lnTo>
                  <a:pt x="112889" y="77854"/>
                </a:lnTo>
                <a:cubicBezTo>
                  <a:pt x="112889" y="71383"/>
                  <a:pt x="118095" y="66176"/>
                  <a:pt x="124567" y="66176"/>
                </a:cubicBezTo>
                <a:close/>
                <a:moveTo>
                  <a:pt x="111575" y="171280"/>
                </a:moveTo>
                <a:cubicBezTo>
                  <a:pt x="111280" y="166457"/>
                  <a:pt x="113684" y="161869"/>
                  <a:pt x="117819" y="159368"/>
                </a:cubicBezTo>
                <a:cubicBezTo>
                  <a:pt x="121953" y="156868"/>
                  <a:pt x="127133" y="156868"/>
                  <a:pt x="131267" y="159368"/>
                </a:cubicBezTo>
                <a:cubicBezTo>
                  <a:pt x="135401" y="161869"/>
                  <a:pt x="137806" y="166457"/>
                  <a:pt x="137510" y="171280"/>
                </a:cubicBezTo>
                <a:cubicBezTo>
                  <a:pt x="137806" y="176102"/>
                  <a:pt x="135401" y="180690"/>
                  <a:pt x="131267" y="183191"/>
                </a:cubicBezTo>
                <a:cubicBezTo>
                  <a:pt x="127133" y="185692"/>
                  <a:pt x="121953" y="185692"/>
                  <a:pt x="117819" y="183191"/>
                </a:cubicBezTo>
                <a:cubicBezTo>
                  <a:pt x="113684" y="180690"/>
                  <a:pt x="111280" y="176102"/>
                  <a:pt x="111575" y="17128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158474" y="2076474"/>
            <a:ext cx="6639424" cy="36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7056" y="2532283"/>
            <a:ext cx="6925928" cy="2437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用户需要手动输入食材名称、数量、保质期等多个字段，系统</a:t>
            </a:r>
            <a:r>
              <a:rPr lang="en-US" sz="1569" b="1" dirty="0">
                <a:solidFill>
                  <a:srgbClr val="F0F2F5">
                    <a:alpha val="80000"/>
                  </a:srgbClr>
                </a:solidFill>
                <a:highlight>
                  <a:srgbClr val="FB2C3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无快捷输入或记忆功能 </a:t>
            </a:r>
            <a:r>
              <a:rPr lang="en-US" sz="1569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。每次添加食材都需要重复完整的输入流程，尤其是保质期字段需要反复弹出键盘选择日期，操作极为繁琐。</a:t>
            </a:r>
            <a:endParaRPr lang="en-US" sz="16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A49A4EE-47A7-8346-A3F8-128EF7F8FFEB}"/>
              </a:ext>
            </a:extLst>
          </p:cNvPr>
          <p:cNvGrpSpPr/>
          <p:nvPr/>
        </p:nvGrpSpPr>
        <p:grpSpPr>
          <a:xfrm>
            <a:off x="473357" y="5532455"/>
            <a:ext cx="7449110" cy="3164003"/>
            <a:chOff x="502376" y="5641209"/>
            <a:chExt cx="7449110" cy="3164003"/>
          </a:xfrm>
        </p:grpSpPr>
        <p:sp>
          <p:nvSpPr>
            <p:cNvPr id="10" name="Shape 8"/>
            <p:cNvSpPr/>
            <p:nvPr/>
          </p:nvSpPr>
          <p:spPr>
            <a:xfrm>
              <a:off x="502376" y="5641209"/>
              <a:ext cx="7449110" cy="3164003"/>
            </a:xfrm>
            <a:custGeom>
              <a:avLst/>
              <a:gdLst/>
              <a:ahLst/>
              <a:cxnLst/>
              <a:rect l="l" t="t" r="r" b="b"/>
              <a:pathLst>
                <a:path w="7449110" h="3475421">
                  <a:moveTo>
                    <a:pt x="49827" y="0"/>
                  </a:moveTo>
                  <a:lnTo>
                    <a:pt x="7299632" y="0"/>
                  </a:lnTo>
                  <a:cubicBezTo>
                    <a:pt x="7382186" y="0"/>
                    <a:pt x="7449110" y="66924"/>
                    <a:pt x="7449110" y="149478"/>
                  </a:cubicBezTo>
                  <a:lnTo>
                    <a:pt x="7449110" y="3325943"/>
                  </a:lnTo>
                  <a:cubicBezTo>
                    <a:pt x="7449110" y="3408497"/>
                    <a:pt x="7382186" y="3475421"/>
                    <a:pt x="7299632" y="3475421"/>
                  </a:cubicBezTo>
                  <a:lnTo>
                    <a:pt x="49827" y="3475421"/>
                  </a:lnTo>
                  <a:cubicBezTo>
                    <a:pt x="22308" y="3475421"/>
                    <a:pt x="0" y="3453112"/>
                    <a:pt x="0" y="3425594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>
                <a:alpha val="10196"/>
              </a:srgbClr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506484" y="5730084"/>
              <a:ext cx="49827" cy="3075128"/>
            </a:xfrm>
            <a:custGeom>
              <a:avLst/>
              <a:gdLst/>
              <a:ahLst/>
              <a:cxnLst/>
              <a:rect l="l" t="t" r="r" b="b"/>
              <a:pathLst>
                <a:path w="49827" h="3475421">
                  <a:moveTo>
                    <a:pt x="49827" y="0"/>
                  </a:moveTo>
                  <a:lnTo>
                    <a:pt x="49827" y="0"/>
                  </a:lnTo>
                  <a:lnTo>
                    <a:pt x="49827" y="3475421"/>
                  </a:lnTo>
                  <a:lnTo>
                    <a:pt x="49827" y="3475421"/>
                  </a:lnTo>
                  <a:cubicBezTo>
                    <a:pt x="22308" y="3475421"/>
                    <a:pt x="0" y="3453112"/>
                    <a:pt x="0" y="3425594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7DAA92"/>
            </a:solidFill>
            <a:ln/>
          </p:spPr>
        </p:sp>
      </p:grpSp>
      <p:sp>
        <p:nvSpPr>
          <p:cNvPr id="12" name="Shape 10"/>
          <p:cNvSpPr/>
          <p:nvPr/>
        </p:nvSpPr>
        <p:spPr>
          <a:xfrm>
            <a:off x="847058" y="5931070"/>
            <a:ext cx="255363" cy="286504"/>
          </a:xfrm>
          <a:custGeom>
            <a:avLst/>
            <a:gdLst/>
            <a:ahLst/>
            <a:cxnLst/>
            <a:rect l="l" t="t" r="r" b="b"/>
            <a:pathLst>
              <a:path w="249134" h="249134">
                <a:moveTo>
                  <a:pt x="124567" y="233563"/>
                </a:moveTo>
                <a:cubicBezTo>
                  <a:pt x="193371" y="233563"/>
                  <a:pt x="249134" y="181255"/>
                  <a:pt x="249134" y="116782"/>
                </a:cubicBezTo>
                <a:cubicBezTo>
                  <a:pt x="249134" y="52308"/>
                  <a:pt x="193371" y="0"/>
                  <a:pt x="124567" y="0"/>
                </a:cubicBezTo>
                <a:cubicBezTo>
                  <a:pt x="55763" y="0"/>
                  <a:pt x="0" y="52308"/>
                  <a:pt x="0" y="116782"/>
                </a:cubicBezTo>
                <a:cubicBezTo>
                  <a:pt x="0" y="143203"/>
                  <a:pt x="9343" y="167533"/>
                  <a:pt x="25108" y="187094"/>
                </a:cubicBezTo>
                <a:lnTo>
                  <a:pt x="1362" y="232006"/>
                </a:lnTo>
                <a:cubicBezTo>
                  <a:pt x="-973" y="236385"/>
                  <a:pt x="-243" y="241738"/>
                  <a:pt x="3114" y="245387"/>
                </a:cubicBezTo>
                <a:cubicBezTo>
                  <a:pt x="6472" y="249037"/>
                  <a:pt x="11775" y="250156"/>
                  <a:pt x="16301" y="248210"/>
                </a:cubicBezTo>
                <a:lnTo>
                  <a:pt x="73913" y="223539"/>
                </a:lnTo>
                <a:cubicBezTo>
                  <a:pt x="89387" y="229962"/>
                  <a:pt x="106515" y="233563"/>
                  <a:pt x="124567" y="233563"/>
                </a:cubicBezTo>
                <a:close/>
                <a:moveTo>
                  <a:pt x="62284" y="101211"/>
                </a:moveTo>
                <a:cubicBezTo>
                  <a:pt x="70877" y="101211"/>
                  <a:pt x="77854" y="108188"/>
                  <a:pt x="77854" y="116782"/>
                </a:cubicBezTo>
                <a:cubicBezTo>
                  <a:pt x="77854" y="125375"/>
                  <a:pt x="70877" y="132352"/>
                  <a:pt x="62284" y="132352"/>
                </a:cubicBezTo>
                <a:cubicBezTo>
                  <a:pt x="53690" y="132352"/>
                  <a:pt x="46713" y="125375"/>
                  <a:pt x="46713" y="116782"/>
                </a:cubicBezTo>
                <a:cubicBezTo>
                  <a:pt x="46713" y="108188"/>
                  <a:pt x="53690" y="101211"/>
                  <a:pt x="62284" y="101211"/>
                </a:cubicBezTo>
                <a:close/>
                <a:moveTo>
                  <a:pt x="124567" y="101211"/>
                </a:moveTo>
                <a:cubicBezTo>
                  <a:pt x="133161" y="101211"/>
                  <a:pt x="140138" y="108188"/>
                  <a:pt x="140138" y="116782"/>
                </a:cubicBezTo>
                <a:cubicBezTo>
                  <a:pt x="140138" y="125375"/>
                  <a:pt x="133161" y="132352"/>
                  <a:pt x="124567" y="132352"/>
                </a:cubicBezTo>
                <a:cubicBezTo>
                  <a:pt x="115973" y="132352"/>
                  <a:pt x="108996" y="125375"/>
                  <a:pt x="108996" y="116782"/>
                </a:cubicBezTo>
                <a:cubicBezTo>
                  <a:pt x="108996" y="108188"/>
                  <a:pt x="115973" y="101211"/>
                  <a:pt x="124567" y="101211"/>
                </a:cubicBezTo>
                <a:close/>
                <a:moveTo>
                  <a:pt x="171280" y="116782"/>
                </a:moveTo>
                <a:cubicBezTo>
                  <a:pt x="171280" y="108188"/>
                  <a:pt x="178257" y="101211"/>
                  <a:pt x="186851" y="101211"/>
                </a:cubicBezTo>
                <a:cubicBezTo>
                  <a:pt x="195444" y="101211"/>
                  <a:pt x="202421" y="108188"/>
                  <a:pt x="202421" y="116782"/>
                </a:cubicBezTo>
                <a:cubicBezTo>
                  <a:pt x="202421" y="125375"/>
                  <a:pt x="195444" y="132352"/>
                  <a:pt x="186851" y="132352"/>
                </a:cubicBezTo>
                <a:cubicBezTo>
                  <a:pt x="178257" y="132352"/>
                  <a:pt x="171280" y="125375"/>
                  <a:pt x="171280" y="116782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563" y="5856976"/>
            <a:ext cx="6639424" cy="42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用户原话</a:t>
            </a:r>
            <a:endParaRPr lang="en-US" sz="1600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034F74F-5975-ED27-D922-54D94D173C66}"/>
              </a:ext>
            </a:extLst>
          </p:cNvPr>
          <p:cNvGrpSpPr/>
          <p:nvPr/>
        </p:nvGrpSpPr>
        <p:grpSpPr>
          <a:xfrm>
            <a:off x="847058" y="6429337"/>
            <a:ext cx="6801361" cy="1256450"/>
            <a:chOff x="847058" y="6429337"/>
            <a:chExt cx="6801361" cy="1030967"/>
          </a:xfrm>
        </p:grpSpPr>
        <p:sp>
          <p:nvSpPr>
            <p:cNvPr id="14" name="Shape 12"/>
            <p:cNvSpPr/>
            <p:nvPr/>
          </p:nvSpPr>
          <p:spPr>
            <a:xfrm>
              <a:off x="847058" y="6429337"/>
              <a:ext cx="6801361" cy="1030967"/>
            </a:xfrm>
            <a:custGeom>
              <a:avLst/>
              <a:gdLst/>
              <a:ahLst/>
              <a:cxnLst/>
              <a:rect l="l" t="t" r="r" b="b"/>
              <a:pathLst>
                <a:path w="6801361" h="722489">
                  <a:moveTo>
                    <a:pt x="49827" y="0"/>
                  </a:moveTo>
                  <a:lnTo>
                    <a:pt x="6701708" y="0"/>
                  </a:lnTo>
                  <a:cubicBezTo>
                    <a:pt x="6756745" y="0"/>
                    <a:pt x="6801361" y="44616"/>
                    <a:pt x="6801361" y="99653"/>
                  </a:cubicBezTo>
                  <a:lnTo>
                    <a:pt x="6801361" y="622836"/>
                  </a:lnTo>
                  <a:cubicBezTo>
                    <a:pt x="6801361" y="677873"/>
                    <a:pt x="6756745" y="722489"/>
                    <a:pt x="6701708" y="722489"/>
                  </a:cubicBezTo>
                  <a:lnTo>
                    <a:pt x="49827" y="722489"/>
                  </a:lnTo>
                  <a:cubicBezTo>
                    <a:pt x="22308" y="722489"/>
                    <a:pt x="0" y="700181"/>
                    <a:pt x="0" y="672662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>
                <a:alpha val="20000"/>
              </a:srgbClr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847058" y="6429337"/>
              <a:ext cx="49827" cy="1030967"/>
            </a:xfrm>
            <a:custGeom>
              <a:avLst/>
              <a:gdLst/>
              <a:ahLst/>
              <a:cxnLst/>
              <a:rect l="l" t="t" r="r" b="b"/>
              <a:pathLst>
                <a:path w="49827" h="722489">
                  <a:moveTo>
                    <a:pt x="49827" y="0"/>
                  </a:moveTo>
                  <a:lnTo>
                    <a:pt x="49827" y="0"/>
                  </a:lnTo>
                  <a:lnTo>
                    <a:pt x="49827" y="722489"/>
                  </a:lnTo>
                  <a:lnTo>
                    <a:pt x="49827" y="722489"/>
                  </a:lnTo>
                  <a:cubicBezTo>
                    <a:pt x="22308" y="722489"/>
                    <a:pt x="0" y="700181"/>
                    <a:pt x="0" y="672662"/>
                  </a:cubicBezTo>
                  <a:lnTo>
                    <a:pt x="0" y="49827"/>
                  </a:lnTo>
                  <a:cubicBezTo>
                    <a:pt x="0" y="22308"/>
                    <a:pt x="22308" y="0"/>
                    <a:pt x="49827" y="0"/>
                  </a:cubicBezTo>
                  <a:close/>
                </a:path>
              </a:pathLst>
            </a:custGeom>
            <a:solidFill>
              <a:srgbClr val="3C8082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1071279" y="6628644"/>
            <a:ext cx="6477487" cy="35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"每次输保质期都要弹键盘，如果能选'明天''下周'就好了。"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145" y="7860922"/>
            <a:ext cx="6925928" cy="426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8名用户 </a:t>
            </a: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反馈此问题，占比</a:t>
            </a:r>
            <a:r>
              <a:rPr lang="en-US" sz="1569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66.7%</a:t>
            </a: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，问题等级：</a:t>
            </a:r>
            <a:r>
              <a:rPr lang="en-US" sz="1569" b="1" dirty="0">
                <a:solidFill>
                  <a:srgbClr val="FF6467"/>
                </a:solidFill>
                <a:highlight>
                  <a:srgbClr val="FB2C3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严重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08624" y="1644285"/>
            <a:ext cx="7461566" cy="7187519"/>
          </a:xfrm>
          <a:custGeom>
            <a:avLst/>
            <a:gdLst/>
            <a:ahLst/>
            <a:cxnLst/>
            <a:rect l="l" t="t" r="r" b="b"/>
            <a:pathLst>
              <a:path w="7461566" h="7187519">
                <a:moveTo>
                  <a:pt x="149500" y="0"/>
                </a:moveTo>
                <a:lnTo>
                  <a:pt x="7312066" y="0"/>
                </a:lnTo>
                <a:cubicBezTo>
                  <a:pt x="7394577" y="0"/>
                  <a:pt x="7461566" y="66989"/>
                  <a:pt x="7461566" y="149500"/>
                </a:cubicBezTo>
                <a:lnTo>
                  <a:pt x="7461566" y="7038018"/>
                </a:lnTo>
                <a:cubicBezTo>
                  <a:pt x="7461566" y="7120530"/>
                  <a:pt x="7394577" y="7187519"/>
                  <a:pt x="7312066" y="7187519"/>
                </a:cubicBezTo>
                <a:lnTo>
                  <a:pt x="149500" y="7187519"/>
                </a:lnTo>
                <a:cubicBezTo>
                  <a:pt x="66989" y="7187519"/>
                  <a:pt x="0" y="7120530"/>
                  <a:pt x="0" y="7038018"/>
                </a:cubicBezTo>
                <a:lnTo>
                  <a:pt x="0" y="149500"/>
                </a:lnTo>
                <a:cubicBezTo>
                  <a:pt x="0" y="66989"/>
                  <a:pt x="66989" y="0"/>
                  <a:pt x="1495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403" y="2005529"/>
            <a:ext cx="186851" cy="249134"/>
          </a:xfrm>
          <a:custGeom>
            <a:avLst/>
            <a:gdLst/>
            <a:ahLst/>
            <a:cxnLst/>
            <a:rect l="l" t="t" r="r" b="b"/>
            <a:pathLst>
              <a:path w="186851" h="249134">
                <a:moveTo>
                  <a:pt x="142522" y="186851"/>
                </a:moveTo>
                <a:cubicBezTo>
                  <a:pt x="146074" y="176000"/>
                  <a:pt x="153179" y="166170"/>
                  <a:pt x="161207" y="157704"/>
                </a:cubicBezTo>
                <a:cubicBezTo>
                  <a:pt x="177119" y="140965"/>
                  <a:pt x="186851" y="118339"/>
                  <a:pt x="186851" y="93425"/>
                </a:cubicBezTo>
                <a:cubicBezTo>
                  <a:pt x="186851" y="41847"/>
                  <a:pt x="145004" y="0"/>
                  <a:pt x="93425" y="0"/>
                </a:cubicBezTo>
                <a:cubicBezTo>
                  <a:pt x="41847" y="0"/>
                  <a:pt x="0" y="41847"/>
                  <a:pt x="0" y="93425"/>
                </a:cubicBezTo>
                <a:cubicBezTo>
                  <a:pt x="0" y="118339"/>
                  <a:pt x="9732" y="140965"/>
                  <a:pt x="25643" y="157704"/>
                </a:cubicBezTo>
                <a:cubicBezTo>
                  <a:pt x="33672" y="166170"/>
                  <a:pt x="40825" y="176000"/>
                  <a:pt x="44328" y="186851"/>
                </a:cubicBezTo>
                <a:lnTo>
                  <a:pt x="142474" y="186851"/>
                </a:lnTo>
                <a:close/>
                <a:moveTo>
                  <a:pt x="140138" y="210207"/>
                </a:moveTo>
                <a:lnTo>
                  <a:pt x="46713" y="210207"/>
                </a:lnTo>
                <a:lnTo>
                  <a:pt x="46713" y="217992"/>
                </a:lnTo>
                <a:cubicBezTo>
                  <a:pt x="46713" y="239500"/>
                  <a:pt x="64133" y="256920"/>
                  <a:pt x="85640" y="256920"/>
                </a:cubicBezTo>
                <a:lnTo>
                  <a:pt x="101211" y="256920"/>
                </a:lnTo>
                <a:cubicBezTo>
                  <a:pt x="122718" y="256920"/>
                  <a:pt x="140138" y="239500"/>
                  <a:pt x="140138" y="217992"/>
                </a:cubicBezTo>
                <a:lnTo>
                  <a:pt x="140138" y="210207"/>
                </a:lnTo>
                <a:close/>
                <a:moveTo>
                  <a:pt x="89533" y="54498"/>
                </a:moveTo>
                <a:cubicBezTo>
                  <a:pt x="70166" y="54498"/>
                  <a:pt x="54498" y="70166"/>
                  <a:pt x="54498" y="89533"/>
                </a:cubicBezTo>
                <a:cubicBezTo>
                  <a:pt x="54498" y="96004"/>
                  <a:pt x="49292" y="101211"/>
                  <a:pt x="42820" y="101211"/>
                </a:cubicBezTo>
                <a:cubicBezTo>
                  <a:pt x="36348" y="101211"/>
                  <a:pt x="31142" y="96004"/>
                  <a:pt x="31142" y="89533"/>
                </a:cubicBezTo>
                <a:cubicBezTo>
                  <a:pt x="31142" y="57272"/>
                  <a:pt x="57272" y="31142"/>
                  <a:pt x="89533" y="31142"/>
                </a:cubicBezTo>
                <a:cubicBezTo>
                  <a:pt x="96004" y="31142"/>
                  <a:pt x="101211" y="36348"/>
                  <a:pt x="101211" y="42820"/>
                </a:cubicBezTo>
                <a:cubicBezTo>
                  <a:pt x="101211" y="49292"/>
                  <a:pt x="96004" y="54498"/>
                  <a:pt x="89533" y="54498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0" name="Text 18"/>
          <p:cNvSpPr/>
          <p:nvPr/>
        </p:nvSpPr>
        <p:spPr>
          <a:xfrm>
            <a:off x="8899537" y="1955703"/>
            <a:ext cx="6664337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2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13033" y="2553624"/>
            <a:ext cx="6826274" cy="1594458"/>
          </a:xfrm>
          <a:custGeom>
            <a:avLst/>
            <a:gdLst/>
            <a:ahLst/>
            <a:cxnLst/>
            <a:rect l="l" t="t" r="r" b="b"/>
            <a:pathLst>
              <a:path w="6826274" h="1594458">
                <a:moveTo>
                  <a:pt x="49827" y="0"/>
                </a:moveTo>
                <a:lnTo>
                  <a:pt x="6726621" y="0"/>
                </a:lnTo>
                <a:cubicBezTo>
                  <a:pt x="6781658" y="0"/>
                  <a:pt x="6826274" y="44616"/>
                  <a:pt x="6826274" y="99654"/>
                </a:cubicBezTo>
                <a:lnTo>
                  <a:pt x="6826274" y="1494805"/>
                </a:lnTo>
                <a:cubicBezTo>
                  <a:pt x="6826274" y="1549842"/>
                  <a:pt x="6781658" y="1594458"/>
                  <a:pt x="6726621" y="1594458"/>
                </a:cubicBezTo>
                <a:lnTo>
                  <a:pt x="49827" y="1594458"/>
                </a:lnTo>
                <a:cubicBezTo>
                  <a:pt x="22308" y="1594458"/>
                  <a:pt x="0" y="1572150"/>
                  <a:pt x="0" y="154463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13033" y="2553624"/>
            <a:ext cx="49827" cy="1594458"/>
          </a:xfrm>
          <a:custGeom>
            <a:avLst/>
            <a:gdLst/>
            <a:ahLst/>
            <a:cxnLst/>
            <a:rect l="l" t="t" r="r" b="b"/>
            <a:pathLst>
              <a:path w="49827" h="1594458">
                <a:moveTo>
                  <a:pt x="49827" y="0"/>
                </a:moveTo>
                <a:lnTo>
                  <a:pt x="49827" y="0"/>
                </a:lnTo>
                <a:lnTo>
                  <a:pt x="49827" y="1594458"/>
                </a:lnTo>
                <a:lnTo>
                  <a:pt x="49827" y="1594458"/>
                </a:lnTo>
                <a:cubicBezTo>
                  <a:pt x="22308" y="1594458"/>
                  <a:pt x="0" y="1572150"/>
                  <a:pt x="0" y="154463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3" name="Shape 21"/>
          <p:cNvSpPr/>
          <p:nvPr/>
        </p:nvSpPr>
        <p:spPr>
          <a:xfrm>
            <a:off x="8887080" y="2802759"/>
            <a:ext cx="398615" cy="398615"/>
          </a:xfrm>
          <a:custGeom>
            <a:avLst/>
            <a:gdLst/>
            <a:ahLst/>
            <a:cxnLst/>
            <a:rect l="l" t="t" r="r" b="b"/>
            <a:pathLst>
              <a:path w="398615" h="398615">
                <a:moveTo>
                  <a:pt x="199307" y="0"/>
                </a:moveTo>
                <a:lnTo>
                  <a:pt x="199307" y="0"/>
                </a:lnTo>
                <a:cubicBezTo>
                  <a:pt x="309382" y="0"/>
                  <a:pt x="398615" y="89233"/>
                  <a:pt x="398615" y="199307"/>
                </a:cubicBezTo>
                <a:lnTo>
                  <a:pt x="398615" y="199307"/>
                </a:lnTo>
                <a:cubicBezTo>
                  <a:pt x="398615" y="309382"/>
                  <a:pt x="309382" y="398615"/>
                  <a:pt x="199307" y="398615"/>
                </a:cubicBezTo>
                <a:lnTo>
                  <a:pt x="199307" y="398615"/>
                </a:lnTo>
                <a:cubicBezTo>
                  <a:pt x="89233" y="398615"/>
                  <a:pt x="0" y="309382"/>
                  <a:pt x="0" y="199307"/>
                </a:cubicBezTo>
                <a:lnTo>
                  <a:pt x="0" y="199307"/>
                </a:lnTo>
                <a:cubicBezTo>
                  <a:pt x="0" y="89233"/>
                  <a:pt x="89233" y="0"/>
                  <a:pt x="199307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4" name="Text 22"/>
          <p:cNvSpPr/>
          <p:nvPr/>
        </p:nvSpPr>
        <p:spPr>
          <a:xfrm>
            <a:off x="8837254" y="2802759"/>
            <a:ext cx="498268" cy="39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35175" y="2802759"/>
            <a:ext cx="5867108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增加保质期快捷选项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35175" y="3251200"/>
            <a:ext cx="5854651" cy="64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提供常用保质期快捷选择按钮：今日、明天、本周、下周，减少键盘弹出次数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13033" y="4347390"/>
            <a:ext cx="6826274" cy="1594458"/>
          </a:xfrm>
          <a:custGeom>
            <a:avLst/>
            <a:gdLst/>
            <a:ahLst/>
            <a:cxnLst/>
            <a:rect l="l" t="t" r="r" b="b"/>
            <a:pathLst>
              <a:path w="6826274" h="1594458">
                <a:moveTo>
                  <a:pt x="49827" y="0"/>
                </a:moveTo>
                <a:lnTo>
                  <a:pt x="6726621" y="0"/>
                </a:lnTo>
                <a:cubicBezTo>
                  <a:pt x="6781658" y="0"/>
                  <a:pt x="6826274" y="44616"/>
                  <a:pt x="6826274" y="99654"/>
                </a:cubicBezTo>
                <a:lnTo>
                  <a:pt x="6826274" y="1494805"/>
                </a:lnTo>
                <a:cubicBezTo>
                  <a:pt x="6826274" y="1549842"/>
                  <a:pt x="6781658" y="1594458"/>
                  <a:pt x="6726621" y="1594458"/>
                </a:cubicBezTo>
                <a:lnTo>
                  <a:pt x="49827" y="1594458"/>
                </a:lnTo>
                <a:cubicBezTo>
                  <a:pt x="22308" y="1594458"/>
                  <a:pt x="0" y="1572150"/>
                  <a:pt x="0" y="154463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613033" y="4347390"/>
            <a:ext cx="49827" cy="1594458"/>
          </a:xfrm>
          <a:custGeom>
            <a:avLst/>
            <a:gdLst/>
            <a:ahLst/>
            <a:cxnLst/>
            <a:rect l="l" t="t" r="r" b="b"/>
            <a:pathLst>
              <a:path w="49827" h="1594458">
                <a:moveTo>
                  <a:pt x="49827" y="0"/>
                </a:moveTo>
                <a:lnTo>
                  <a:pt x="49827" y="0"/>
                </a:lnTo>
                <a:lnTo>
                  <a:pt x="49827" y="1594458"/>
                </a:lnTo>
                <a:lnTo>
                  <a:pt x="49827" y="1594458"/>
                </a:lnTo>
                <a:cubicBezTo>
                  <a:pt x="22308" y="1594458"/>
                  <a:pt x="0" y="1572150"/>
                  <a:pt x="0" y="154463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9" name="Shape 27"/>
          <p:cNvSpPr/>
          <p:nvPr/>
        </p:nvSpPr>
        <p:spPr>
          <a:xfrm>
            <a:off x="8887080" y="4596524"/>
            <a:ext cx="398615" cy="398615"/>
          </a:xfrm>
          <a:custGeom>
            <a:avLst/>
            <a:gdLst/>
            <a:ahLst/>
            <a:cxnLst/>
            <a:rect l="l" t="t" r="r" b="b"/>
            <a:pathLst>
              <a:path w="398615" h="398615">
                <a:moveTo>
                  <a:pt x="199307" y="0"/>
                </a:moveTo>
                <a:lnTo>
                  <a:pt x="199307" y="0"/>
                </a:lnTo>
                <a:cubicBezTo>
                  <a:pt x="309382" y="0"/>
                  <a:pt x="398615" y="89233"/>
                  <a:pt x="398615" y="199307"/>
                </a:cubicBezTo>
                <a:lnTo>
                  <a:pt x="398615" y="199307"/>
                </a:lnTo>
                <a:cubicBezTo>
                  <a:pt x="398615" y="309382"/>
                  <a:pt x="309382" y="398615"/>
                  <a:pt x="199307" y="398615"/>
                </a:cubicBezTo>
                <a:lnTo>
                  <a:pt x="199307" y="398615"/>
                </a:lnTo>
                <a:cubicBezTo>
                  <a:pt x="89233" y="398615"/>
                  <a:pt x="0" y="309382"/>
                  <a:pt x="0" y="199307"/>
                </a:cubicBezTo>
                <a:lnTo>
                  <a:pt x="0" y="199307"/>
                </a:lnTo>
                <a:cubicBezTo>
                  <a:pt x="0" y="89233"/>
                  <a:pt x="89233" y="0"/>
                  <a:pt x="199307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0" name="Text 28"/>
          <p:cNvSpPr/>
          <p:nvPr/>
        </p:nvSpPr>
        <p:spPr>
          <a:xfrm>
            <a:off x="8837254" y="4596524"/>
            <a:ext cx="498268" cy="39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35175" y="4596524"/>
            <a:ext cx="5867108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支持历史食材名称自动补全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35175" y="5044965"/>
            <a:ext cx="5854651" cy="64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基于用户历史输入记录，提供食材名称自动补全功能，降低重复输入成本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88120" y="6141155"/>
            <a:ext cx="6851188" cy="1096190"/>
          </a:xfrm>
          <a:custGeom>
            <a:avLst/>
            <a:gdLst/>
            <a:ahLst/>
            <a:cxnLst/>
            <a:rect l="l" t="t" r="r" b="b"/>
            <a:pathLst>
              <a:path w="6851188" h="1096190">
                <a:moveTo>
                  <a:pt x="99655" y="0"/>
                </a:moveTo>
                <a:lnTo>
                  <a:pt x="6751533" y="0"/>
                </a:lnTo>
                <a:cubicBezTo>
                  <a:pt x="6806571" y="0"/>
                  <a:pt x="6851188" y="44617"/>
                  <a:pt x="6851188" y="99655"/>
                </a:cubicBezTo>
                <a:lnTo>
                  <a:pt x="6851188" y="996535"/>
                </a:lnTo>
                <a:cubicBezTo>
                  <a:pt x="6851188" y="1051573"/>
                  <a:pt x="6806571" y="1096190"/>
                  <a:pt x="6751533" y="1096190"/>
                </a:cubicBezTo>
                <a:lnTo>
                  <a:pt x="99655" y="1096190"/>
                </a:lnTo>
                <a:cubicBezTo>
                  <a:pt x="44617" y="1096190"/>
                  <a:pt x="0" y="1051573"/>
                  <a:pt x="0" y="996535"/>
                </a:cubicBezTo>
                <a:lnTo>
                  <a:pt x="0" y="99655"/>
                </a:lnTo>
                <a:cubicBezTo>
                  <a:pt x="0" y="44654"/>
                  <a:pt x="44654" y="0"/>
                  <a:pt x="99655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812340" y="6390290"/>
            <a:ext cx="199307" cy="199307"/>
          </a:xfrm>
          <a:custGeom>
            <a:avLst/>
            <a:gdLst/>
            <a:ahLst/>
            <a:cxnLst/>
            <a:rect l="l" t="t" r="r" b="b"/>
            <a:pathLst>
              <a:path w="199307" h="199307">
                <a:moveTo>
                  <a:pt x="99654" y="199307"/>
                </a:moveTo>
                <a:cubicBezTo>
                  <a:pt x="154654" y="199307"/>
                  <a:pt x="199307" y="154654"/>
                  <a:pt x="199307" y="99654"/>
                </a:cubicBezTo>
                <a:cubicBezTo>
                  <a:pt x="199307" y="44653"/>
                  <a:pt x="154654" y="0"/>
                  <a:pt x="99654" y="0"/>
                </a:cubicBezTo>
                <a:cubicBezTo>
                  <a:pt x="44653" y="0"/>
                  <a:pt x="0" y="44653"/>
                  <a:pt x="0" y="99654"/>
                </a:cubicBezTo>
                <a:cubicBezTo>
                  <a:pt x="0" y="154654"/>
                  <a:pt x="44653" y="199307"/>
                  <a:pt x="99654" y="199307"/>
                </a:cubicBezTo>
                <a:close/>
                <a:moveTo>
                  <a:pt x="87197" y="62284"/>
                </a:moveTo>
                <a:cubicBezTo>
                  <a:pt x="87197" y="55408"/>
                  <a:pt x="92779" y="49827"/>
                  <a:pt x="99654" y="49827"/>
                </a:cubicBezTo>
                <a:cubicBezTo>
                  <a:pt x="106529" y="49827"/>
                  <a:pt x="112110" y="55408"/>
                  <a:pt x="112110" y="62284"/>
                </a:cubicBezTo>
                <a:cubicBezTo>
                  <a:pt x="112110" y="69159"/>
                  <a:pt x="106529" y="74740"/>
                  <a:pt x="99654" y="74740"/>
                </a:cubicBezTo>
                <a:cubicBezTo>
                  <a:pt x="92779" y="74740"/>
                  <a:pt x="87197" y="69159"/>
                  <a:pt x="87197" y="62284"/>
                </a:cubicBezTo>
                <a:close/>
                <a:moveTo>
                  <a:pt x="84083" y="87197"/>
                </a:moveTo>
                <a:lnTo>
                  <a:pt x="102768" y="87197"/>
                </a:lnTo>
                <a:cubicBezTo>
                  <a:pt x="107945" y="87197"/>
                  <a:pt x="112110" y="91362"/>
                  <a:pt x="112110" y="96539"/>
                </a:cubicBezTo>
                <a:lnTo>
                  <a:pt x="112110" y="130795"/>
                </a:lnTo>
                <a:lnTo>
                  <a:pt x="115225" y="130795"/>
                </a:lnTo>
                <a:cubicBezTo>
                  <a:pt x="120402" y="130795"/>
                  <a:pt x="124567" y="134961"/>
                  <a:pt x="124567" y="140138"/>
                </a:cubicBezTo>
                <a:cubicBezTo>
                  <a:pt x="124567" y="145315"/>
                  <a:pt x="120402" y="149480"/>
                  <a:pt x="115225" y="149480"/>
                </a:cubicBezTo>
                <a:lnTo>
                  <a:pt x="84083" y="149480"/>
                </a:lnTo>
                <a:cubicBezTo>
                  <a:pt x="78905" y="149480"/>
                  <a:pt x="74740" y="145315"/>
                  <a:pt x="74740" y="140138"/>
                </a:cubicBezTo>
                <a:cubicBezTo>
                  <a:pt x="74740" y="134961"/>
                  <a:pt x="78905" y="130795"/>
                  <a:pt x="84083" y="130795"/>
                </a:cubicBezTo>
                <a:lnTo>
                  <a:pt x="93425" y="130795"/>
                </a:lnTo>
                <a:lnTo>
                  <a:pt x="93425" y="105882"/>
                </a:lnTo>
                <a:lnTo>
                  <a:pt x="84083" y="105882"/>
                </a:lnTo>
                <a:cubicBezTo>
                  <a:pt x="78905" y="105882"/>
                  <a:pt x="74740" y="101717"/>
                  <a:pt x="74740" y="96539"/>
                </a:cubicBezTo>
                <a:cubicBezTo>
                  <a:pt x="74740" y="91362"/>
                  <a:pt x="78905" y="87197"/>
                  <a:pt x="84083" y="87197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5" name="Text 33"/>
          <p:cNvSpPr/>
          <p:nvPr/>
        </p:nvSpPr>
        <p:spPr>
          <a:xfrm>
            <a:off x="9136215" y="6340463"/>
            <a:ext cx="896883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涉及页面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87427" y="6739077"/>
            <a:ext cx="6552227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食材录入页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88120" y="7436653"/>
            <a:ext cx="6851188" cy="1096190"/>
          </a:xfrm>
          <a:custGeom>
            <a:avLst/>
            <a:gdLst/>
            <a:ahLst/>
            <a:cxnLst/>
            <a:rect l="l" t="t" r="r" b="b"/>
            <a:pathLst>
              <a:path w="6851188" h="1096190">
                <a:moveTo>
                  <a:pt x="99655" y="0"/>
                </a:moveTo>
                <a:lnTo>
                  <a:pt x="6751533" y="0"/>
                </a:lnTo>
                <a:cubicBezTo>
                  <a:pt x="6806571" y="0"/>
                  <a:pt x="6851188" y="44617"/>
                  <a:pt x="6851188" y="99655"/>
                </a:cubicBezTo>
                <a:lnTo>
                  <a:pt x="6851188" y="996535"/>
                </a:lnTo>
                <a:cubicBezTo>
                  <a:pt x="6851188" y="1051573"/>
                  <a:pt x="6806571" y="1096190"/>
                  <a:pt x="6751533" y="1096190"/>
                </a:cubicBezTo>
                <a:lnTo>
                  <a:pt x="99655" y="1096190"/>
                </a:lnTo>
                <a:cubicBezTo>
                  <a:pt x="44617" y="1096190"/>
                  <a:pt x="0" y="1051573"/>
                  <a:pt x="0" y="996535"/>
                </a:cubicBezTo>
                <a:lnTo>
                  <a:pt x="0" y="99655"/>
                </a:lnTo>
                <a:cubicBezTo>
                  <a:pt x="0" y="44654"/>
                  <a:pt x="44654" y="0"/>
                  <a:pt x="99655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812340" y="7685787"/>
            <a:ext cx="199307" cy="199307"/>
          </a:xfrm>
          <a:custGeom>
            <a:avLst/>
            <a:gdLst/>
            <a:ahLst/>
            <a:cxnLst/>
            <a:rect l="l" t="t" r="r" b="b"/>
            <a:pathLst>
              <a:path w="199307" h="199307">
                <a:moveTo>
                  <a:pt x="99654" y="0"/>
                </a:moveTo>
                <a:cubicBezTo>
                  <a:pt x="154654" y="0"/>
                  <a:pt x="199307" y="44653"/>
                  <a:pt x="199307" y="99654"/>
                </a:cubicBezTo>
                <a:cubicBezTo>
                  <a:pt x="199307" y="154654"/>
                  <a:pt x="154654" y="199307"/>
                  <a:pt x="99654" y="199307"/>
                </a:cubicBezTo>
                <a:cubicBezTo>
                  <a:pt x="44653" y="199307"/>
                  <a:pt x="0" y="154654"/>
                  <a:pt x="0" y="99654"/>
                </a:cubicBezTo>
                <a:cubicBezTo>
                  <a:pt x="0" y="44653"/>
                  <a:pt x="44653" y="0"/>
                  <a:pt x="99654" y="0"/>
                </a:cubicBezTo>
                <a:close/>
                <a:moveTo>
                  <a:pt x="90311" y="46713"/>
                </a:moveTo>
                <a:lnTo>
                  <a:pt x="90311" y="99654"/>
                </a:lnTo>
                <a:cubicBezTo>
                  <a:pt x="90311" y="102768"/>
                  <a:pt x="91868" y="105687"/>
                  <a:pt x="94476" y="107439"/>
                </a:cubicBezTo>
                <a:lnTo>
                  <a:pt x="131846" y="132352"/>
                </a:lnTo>
                <a:cubicBezTo>
                  <a:pt x="136128" y="135233"/>
                  <a:pt x="141929" y="134065"/>
                  <a:pt x="144809" y="129744"/>
                </a:cubicBezTo>
                <a:cubicBezTo>
                  <a:pt x="147690" y="125423"/>
                  <a:pt x="146522" y="119662"/>
                  <a:pt x="142201" y="116782"/>
                </a:cubicBezTo>
                <a:lnTo>
                  <a:pt x="108996" y="94671"/>
                </a:lnTo>
                <a:lnTo>
                  <a:pt x="108996" y="46713"/>
                </a:lnTo>
                <a:cubicBezTo>
                  <a:pt x="108996" y="41535"/>
                  <a:pt x="104831" y="37370"/>
                  <a:pt x="99654" y="37370"/>
                </a:cubicBezTo>
                <a:cubicBezTo>
                  <a:pt x="94476" y="37370"/>
                  <a:pt x="90311" y="41535"/>
                  <a:pt x="90311" y="4671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9" name="Text 37"/>
          <p:cNvSpPr/>
          <p:nvPr/>
        </p:nvSpPr>
        <p:spPr>
          <a:xfrm>
            <a:off x="9136215" y="7635960"/>
            <a:ext cx="109619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预计工作量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87427" y="8034575"/>
            <a:ext cx="6552227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中等（涉及UI调整与数据存储优化）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8000" y="745724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问题详解2：库存页滑动操作不明确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07724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12524"/>
            <a:ext cx="5918200" cy="3225800"/>
          </a:xfrm>
          <a:custGeom>
            <a:avLst/>
            <a:gdLst/>
            <a:ahLst/>
            <a:cxnLst/>
            <a:rect l="l" t="t" r="r" b="b"/>
            <a:pathLst>
              <a:path w="5918200" h="3225800">
                <a:moveTo>
                  <a:pt x="50800" y="0"/>
                </a:moveTo>
                <a:lnTo>
                  <a:pt x="5765813" y="0"/>
                </a:lnTo>
                <a:cubicBezTo>
                  <a:pt x="5849974" y="0"/>
                  <a:pt x="5918200" y="68226"/>
                  <a:pt x="5918200" y="152387"/>
                </a:cubicBezTo>
                <a:lnTo>
                  <a:pt x="5918200" y="3073413"/>
                </a:lnTo>
                <a:cubicBezTo>
                  <a:pt x="5918200" y="3157574"/>
                  <a:pt x="5849974" y="3225800"/>
                  <a:pt x="5765813" y="3225800"/>
                </a:cubicBezTo>
                <a:lnTo>
                  <a:pt x="50800" y="3225800"/>
                </a:lnTo>
                <a:cubicBezTo>
                  <a:pt x="22763" y="3225800"/>
                  <a:pt x="0" y="3203037"/>
                  <a:pt x="0" y="317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812524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5080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50800" y="3225800"/>
                </a:lnTo>
                <a:cubicBezTo>
                  <a:pt x="22763" y="3225800"/>
                  <a:pt x="0" y="3203037"/>
                  <a:pt x="0" y="317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4550" y="21173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2066524"/>
            <a:ext cx="519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574524"/>
            <a:ext cx="54864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库存页的左滑删除与右滑编辑操作的</a:t>
            </a:r>
            <a:r>
              <a:rPr lang="en-US" sz="1600" b="1" dirty="0">
                <a:solidFill>
                  <a:srgbClr val="F0F2F5">
                    <a:alpha val="80000"/>
                  </a:srgbClr>
                </a:solidFill>
                <a:highlight>
                  <a:srgbClr val="F0B10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视觉反馈不强 </a:t>
            </a: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，用户无法清晰识别滑动方向对应的操作，容易产生误操作。交互设计缺乏明确的视觉引导。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5241524"/>
            <a:ext cx="5918200" cy="3225800"/>
          </a:xfrm>
          <a:custGeom>
            <a:avLst/>
            <a:gdLst/>
            <a:ahLst/>
            <a:cxnLst/>
            <a:rect l="l" t="t" r="r" b="b"/>
            <a:pathLst>
              <a:path w="5918200" h="3225800">
                <a:moveTo>
                  <a:pt x="50800" y="0"/>
                </a:moveTo>
                <a:lnTo>
                  <a:pt x="5765813" y="0"/>
                </a:lnTo>
                <a:cubicBezTo>
                  <a:pt x="5849974" y="0"/>
                  <a:pt x="5918200" y="68226"/>
                  <a:pt x="5918200" y="152387"/>
                </a:cubicBezTo>
                <a:lnTo>
                  <a:pt x="5918200" y="3073413"/>
                </a:lnTo>
                <a:cubicBezTo>
                  <a:pt x="5918200" y="3157574"/>
                  <a:pt x="5849974" y="3225800"/>
                  <a:pt x="5765813" y="3225800"/>
                </a:cubicBezTo>
                <a:lnTo>
                  <a:pt x="50800" y="3225800"/>
                </a:lnTo>
                <a:cubicBezTo>
                  <a:pt x="22763" y="3225800"/>
                  <a:pt x="0" y="3203037"/>
                  <a:pt x="0" y="317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5241524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5080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50800" y="3225800"/>
                </a:lnTo>
                <a:cubicBezTo>
                  <a:pt x="22763" y="3225800"/>
                  <a:pt x="0" y="3203037"/>
                  <a:pt x="0" y="3175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" y="55463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38125"/>
                </a:moveTo>
                <a:cubicBezTo>
                  <a:pt x="197148" y="238125"/>
                  <a:pt x="254000" y="184795"/>
                  <a:pt x="254000" y="119063"/>
                </a:cubicBezTo>
                <a:cubicBezTo>
                  <a:pt x="254000" y="53330"/>
                  <a:pt x="197148" y="0"/>
                  <a:pt x="127000" y="0"/>
                </a:cubicBezTo>
                <a:cubicBezTo>
                  <a:pt x="56852" y="0"/>
                  <a:pt x="0" y="53330"/>
                  <a:pt x="0" y="119063"/>
                </a:cubicBezTo>
                <a:cubicBezTo>
                  <a:pt x="0" y="146000"/>
                  <a:pt x="9525" y="170805"/>
                  <a:pt x="25598" y="190748"/>
                </a:cubicBezTo>
                <a:lnTo>
                  <a:pt x="1389" y="236538"/>
                </a:lnTo>
                <a:cubicBezTo>
                  <a:pt x="-992" y="241002"/>
                  <a:pt x="-248" y="246459"/>
                  <a:pt x="3175" y="250180"/>
                </a:cubicBezTo>
                <a:cubicBezTo>
                  <a:pt x="6598" y="253901"/>
                  <a:pt x="12005" y="255042"/>
                  <a:pt x="16619" y="253057"/>
                </a:cubicBezTo>
                <a:lnTo>
                  <a:pt x="75357" y="227905"/>
                </a:lnTo>
                <a:cubicBezTo>
                  <a:pt x="91132" y="234454"/>
                  <a:pt x="108595" y="238125"/>
                  <a:pt x="127000" y="238125"/>
                </a:cubicBezTo>
                <a:close/>
                <a:moveTo>
                  <a:pt x="63500" y="103188"/>
                </a:moveTo>
                <a:cubicBezTo>
                  <a:pt x="72262" y="103188"/>
                  <a:pt x="79375" y="110301"/>
                  <a:pt x="79375" y="119063"/>
                </a:cubicBezTo>
                <a:cubicBezTo>
                  <a:pt x="79375" y="127824"/>
                  <a:pt x="72262" y="134938"/>
                  <a:pt x="63500" y="134938"/>
                </a:cubicBezTo>
                <a:cubicBezTo>
                  <a:pt x="54738" y="134938"/>
                  <a:pt x="47625" y="127824"/>
                  <a:pt x="47625" y="119063"/>
                </a:cubicBezTo>
                <a:cubicBezTo>
                  <a:pt x="47625" y="110301"/>
                  <a:pt x="54738" y="103188"/>
                  <a:pt x="63500" y="103188"/>
                </a:cubicBezTo>
                <a:close/>
                <a:moveTo>
                  <a:pt x="127000" y="103188"/>
                </a:moveTo>
                <a:cubicBezTo>
                  <a:pt x="135762" y="103188"/>
                  <a:pt x="142875" y="110301"/>
                  <a:pt x="142875" y="119063"/>
                </a:cubicBezTo>
                <a:cubicBezTo>
                  <a:pt x="142875" y="127824"/>
                  <a:pt x="135762" y="134938"/>
                  <a:pt x="127000" y="134938"/>
                </a:cubicBezTo>
                <a:cubicBezTo>
                  <a:pt x="118238" y="134938"/>
                  <a:pt x="111125" y="127824"/>
                  <a:pt x="111125" y="119063"/>
                </a:cubicBezTo>
                <a:cubicBezTo>
                  <a:pt x="111125" y="110301"/>
                  <a:pt x="118238" y="103188"/>
                  <a:pt x="127000" y="103188"/>
                </a:cubicBezTo>
                <a:close/>
                <a:moveTo>
                  <a:pt x="174625" y="119063"/>
                </a:moveTo>
                <a:cubicBezTo>
                  <a:pt x="174625" y="110301"/>
                  <a:pt x="181738" y="103188"/>
                  <a:pt x="190500" y="103188"/>
                </a:cubicBezTo>
                <a:cubicBezTo>
                  <a:pt x="199262" y="103188"/>
                  <a:pt x="206375" y="110301"/>
                  <a:pt x="206375" y="119063"/>
                </a:cubicBezTo>
                <a:cubicBezTo>
                  <a:pt x="206375" y="127824"/>
                  <a:pt x="199262" y="134938"/>
                  <a:pt x="190500" y="134938"/>
                </a:cubicBezTo>
                <a:cubicBezTo>
                  <a:pt x="181738" y="134938"/>
                  <a:pt x="174625" y="127824"/>
                  <a:pt x="174625" y="11906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3" name="Text 11"/>
          <p:cNvSpPr/>
          <p:nvPr/>
        </p:nvSpPr>
        <p:spPr>
          <a:xfrm>
            <a:off x="1130300" y="5495524"/>
            <a:ext cx="519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用户原话</a:t>
            </a:r>
            <a:endParaRPr lang="en-US" sz="16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644C55E-7E02-A5FE-93EC-AFC3A324D132}"/>
              </a:ext>
            </a:extLst>
          </p:cNvPr>
          <p:cNvGrpSpPr/>
          <p:nvPr/>
        </p:nvGrpSpPr>
        <p:grpSpPr>
          <a:xfrm>
            <a:off x="812800" y="6177748"/>
            <a:ext cx="5359400" cy="1327952"/>
            <a:chOff x="838200" y="6003524"/>
            <a:chExt cx="5359400" cy="1752600"/>
          </a:xfrm>
        </p:grpSpPr>
        <p:sp>
          <p:nvSpPr>
            <p:cNvPr id="14" name="Shape 12"/>
            <p:cNvSpPr/>
            <p:nvPr/>
          </p:nvSpPr>
          <p:spPr>
            <a:xfrm>
              <a:off x="838200" y="6003524"/>
              <a:ext cx="5359400" cy="1752600"/>
            </a:xfrm>
            <a:custGeom>
              <a:avLst/>
              <a:gdLst/>
              <a:ahLst/>
              <a:cxnLst/>
              <a:rect l="l" t="t" r="r" b="b"/>
              <a:pathLst>
                <a:path w="5359400" h="1752600">
                  <a:moveTo>
                    <a:pt x="50800" y="0"/>
                  </a:moveTo>
                  <a:lnTo>
                    <a:pt x="5257802" y="0"/>
                  </a:lnTo>
                  <a:cubicBezTo>
                    <a:pt x="5313913" y="0"/>
                    <a:pt x="5359400" y="45487"/>
                    <a:pt x="5359400" y="101598"/>
                  </a:cubicBezTo>
                  <a:lnTo>
                    <a:pt x="5359400" y="1651002"/>
                  </a:lnTo>
                  <a:cubicBezTo>
                    <a:pt x="5359400" y="1707113"/>
                    <a:pt x="5313913" y="1752600"/>
                    <a:pt x="5257802" y="1752600"/>
                  </a:cubicBezTo>
                  <a:lnTo>
                    <a:pt x="50800" y="1752600"/>
                  </a:lnTo>
                  <a:cubicBezTo>
                    <a:pt x="22763" y="1752600"/>
                    <a:pt x="0" y="1729837"/>
                    <a:pt x="0" y="1701800"/>
                  </a:cubicBezTo>
                  <a:lnTo>
                    <a:pt x="0" y="50800"/>
                  </a:lnTo>
                  <a:cubicBezTo>
                    <a:pt x="0" y="22763"/>
                    <a:pt x="22763" y="0"/>
                    <a:pt x="50800" y="0"/>
                  </a:cubicBezTo>
                  <a:close/>
                </a:path>
              </a:pathLst>
            </a:custGeom>
            <a:solidFill>
              <a:srgbClr val="3C8082">
                <a:alpha val="20000"/>
              </a:srgbClr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838200" y="6003524"/>
              <a:ext cx="50800" cy="1752600"/>
            </a:xfrm>
            <a:custGeom>
              <a:avLst/>
              <a:gdLst/>
              <a:ahLst/>
              <a:cxnLst/>
              <a:rect l="l" t="t" r="r" b="b"/>
              <a:pathLst>
                <a:path w="50800" h="1752600">
                  <a:moveTo>
                    <a:pt x="50800" y="0"/>
                  </a:moveTo>
                  <a:lnTo>
                    <a:pt x="50800" y="0"/>
                  </a:lnTo>
                  <a:lnTo>
                    <a:pt x="50800" y="1752600"/>
                  </a:lnTo>
                  <a:lnTo>
                    <a:pt x="50800" y="1752600"/>
                  </a:lnTo>
                  <a:cubicBezTo>
                    <a:pt x="22763" y="1752600"/>
                    <a:pt x="0" y="1729837"/>
                    <a:pt x="0" y="1701800"/>
                  </a:cubicBezTo>
                  <a:lnTo>
                    <a:pt x="0" y="50800"/>
                  </a:lnTo>
                  <a:cubicBezTo>
                    <a:pt x="0" y="22763"/>
                    <a:pt x="22763" y="0"/>
                    <a:pt x="50800" y="0"/>
                  </a:cubicBezTo>
                  <a:close/>
                </a:path>
              </a:pathLst>
            </a:custGeom>
            <a:solidFill>
              <a:srgbClr val="3C8082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1041400" y="6376879"/>
            <a:ext cx="5029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"不知道往哪滑是删除，试了几次才明白。"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775261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5名用户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反馈此问题，占比</a:t>
            </a: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41.7%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，问题等级：</a:t>
            </a:r>
            <a:r>
              <a:rPr lang="en-US" sz="1600" b="1" dirty="0">
                <a:solidFill>
                  <a:srgbClr val="FDC700"/>
                </a:solidFill>
                <a:highlight>
                  <a:srgbClr val="F0B10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一般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950" y="1818874"/>
            <a:ext cx="9029700" cy="6642100"/>
          </a:xfrm>
          <a:custGeom>
            <a:avLst/>
            <a:gdLst/>
            <a:ahLst/>
            <a:cxnLst/>
            <a:rect l="l" t="t" r="r" b="b"/>
            <a:pathLst>
              <a:path w="9029700" h="6642100">
                <a:moveTo>
                  <a:pt x="152370" y="0"/>
                </a:moveTo>
                <a:lnTo>
                  <a:pt x="8877330" y="0"/>
                </a:lnTo>
                <a:cubicBezTo>
                  <a:pt x="8961482" y="0"/>
                  <a:pt x="9029700" y="68218"/>
                  <a:pt x="9029700" y="152370"/>
                </a:cubicBezTo>
                <a:lnTo>
                  <a:pt x="9029700" y="6489730"/>
                </a:lnTo>
                <a:cubicBezTo>
                  <a:pt x="9029700" y="6573882"/>
                  <a:pt x="8961482" y="6642100"/>
                  <a:pt x="8877330" y="6642100"/>
                </a:cubicBezTo>
                <a:lnTo>
                  <a:pt x="152370" y="6642100"/>
                </a:lnTo>
                <a:cubicBezTo>
                  <a:pt x="68218" y="6642100"/>
                  <a:pt x="0" y="6573882"/>
                  <a:pt x="0" y="6489730"/>
                </a:cubicBezTo>
                <a:lnTo>
                  <a:pt x="0" y="152370"/>
                </a:lnTo>
                <a:cubicBezTo>
                  <a:pt x="0" y="68275"/>
                  <a:pt x="68275" y="0"/>
                  <a:pt x="15237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80824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0" name="Text 18"/>
          <p:cNvSpPr/>
          <p:nvPr/>
        </p:nvSpPr>
        <p:spPr>
          <a:xfrm>
            <a:off x="7340600" y="2130024"/>
            <a:ext cx="821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8500" y="2688824"/>
            <a:ext cx="4076700" cy="1574800"/>
          </a:xfrm>
          <a:custGeom>
            <a:avLst/>
            <a:gdLst/>
            <a:ahLst/>
            <a:cxnLst/>
            <a:rect l="l" t="t" r="r" b="b"/>
            <a:pathLst>
              <a:path w="4076700" h="1574800">
                <a:moveTo>
                  <a:pt x="50800" y="0"/>
                </a:moveTo>
                <a:lnTo>
                  <a:pt x="3975094" y="0"/>
                </a:lnTo>
                <a:cubicBezTo>
                  <a:pt x="4031209" y="0"/>
                  <a:pt x="4076700" y="45491"/>
                  <a:pt x="4076700" y="101606"/>
                </a:cubicBezTo>
                <a:lnTo>
                  <a:pt x="4076700" y="1473194"/>
                </a:lnTo>
                <a:cubicBezTo>
                  <a:pt x="4076700" y="1529309"/>
                  <a:pt x="4031209" y="1574800"/>
                  <a:pt x="39750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8500" y="2688824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08850" y="29428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663" y="115788"/>
                </a:moveTo>
                <a:cubicBezTo>
                  <a:pt x="-1538" y="121989"/>
                  <a:pt x="-1538" y="132060"/>
                  <a:pt x="4663" y="138261"/>
                </a:cubicBezTo>
                <a:lnTo>
                  <a:pt x="84038" y="217636"/>
                </a:lnTo>
                <a:cubicBezTo>
                  <a:pt x="90239" y="223838"/>
                  <a:pt x="100310" y="223838"/>
                  <a:pt x="106511" y="217636"/>
                </a:cubicBezTo>
                <a:cubicBezTo>
                  <a:pt x="112713" y="211435"/>
                  <a:pt x="112713" y="201364"/>
                  <a:pt x="106511" y="195163"/>
                </a:cubicBezTo>
                <a:lnTo>
                  <a:pt x="54223" y="142875"/>
                </a:ln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54223" y="111125"/>
                </a:lnTo>
                <a:lnTo>
                  <a:pt x="106511" y="58837"/>
                </a:lnTo>
                <a:cubicBezTo>
                  <a:pt x="112713" y="52636"/>
                  <a:pt x="112713" y="42565"/>
                  <a:pt x="106511" y="36364"/>
                </a:cubicBezTo>
                <a:cubicBezTo>
                  <a:pt x="100310" y="30163"/>
                  <a:pt x="90239" y="30163"/>
                  <a:pt x="84038" y="36364"/>
                </a:cubicBezTo>
                <a:lnTo>
                  <a:pt x="4663" y="115739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7696200" y="2892024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左滑操作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77100" y="3400024"/>
            <a:ext cx="374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出现</a:t>
            </a:r>
            <a:r>
              <a:rPr lang="en-US" sz="1600" b="1" dirty="0">
                <a:solidFill>
                  <a:srgbClr val="FF6467"/>
                </a:solidFill>
                <a:highlight>
                  <a:srgbClr val="FB2C3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红色删除图标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7100" y="3806424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增强视觉辨识度，降低误操作风险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353800" y="2688824"/>
            <a:ext cx="4076700" cy="1574800"/>
          </a:xfrm>
          <a:custGeom>
            <a:avLst/>
            <a:gdLst/>
            <a:ahLst/>
            <a:cxnLst/>
            <a:rect l="l" t="t" r="r" b="b"/>
            <a:pathLst>
              <a:path w="4076700" h="1574800">
                <a:moveTo>
                  <a:pt x="50800" y="0"/>
                </a:moveTo>
                <a:lnTo>
                  <a:pt x="3975094" y="0"/>
                </a:lnTo>
                <a:cubicBezTo>
                  <a:pt x="4031209" y="0"/>
                  <a:pt x="4076700" y="45491"/>
                  <a:pt x="4076700" y="101606"/>
                </a:cubicBezTo>
                <a:lnTo>
                  <a:pt x="4076700" y="1473194"/>
                </a:lnTo>
                <a:cubicBezTo>
                  <a:pt x="4076700" y="1529309"/>
                  <a:pt x="4031209" y="1574800"/>
                  <a:pt x="39750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353800" y="2688824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7FFF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614150" y="294282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30" name="Text 28"/>
          <p:cNvSpPr/>
          <p:nvPr/>
        </p:nvSpPr>
        <p:spPr>
          <a:xfrm>
            <a:off x="12001500" y="2892024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右滑操作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82400" y="3400024"/>
            <a:ext cx="374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出现</a:t>
            </a:r>
            <a:r>
              <a:rPr lang="en-US" sz="1600" b="1" dirty="0">
                <a:solidFill>
                  <a:srgbClr val="51A2FF"/>
                </a:solidFill>
                <a:highlight>
                  <a:srgbClr val="2B7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蓝色编辑图标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82400" y="3806424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明确操作意图，提升交互效率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48500" y="4466824"/>
            <a:ext cx="8382000" cy="1193800"/>
          </a:xfrm>
          <a:custGeom>
            <a:avLst/>
            <a:gdLst/>
            <a:ahLst/>
            <a:cxnLst/>
            <a:rect l="l" t="t" r="r" b="b"/>
            <a:pathLst>
              <a:path w="8382000" h="1193800">
                <a:moveTo>
                  <a:pt x="50800" y="0"/>
                </a:moveTo>
                <a:lnTo>
                  <a:pt x="8280396" y="0"/>
                </a:lnTo>
                <a:cubicBezTo>
                  <a:pt x="8336510" y="0"/>
                  <a:pt x="8382000" y="45490"/>
                  <a:pt x="8382000" y="101604"/>
                </a:cubicBezTo>
                <a:lnTo>
                  <a:pt x="8382000" y="1092196"/>
                </a:lnTo>
                <a:cubicBezTo>
                  <a:pt x="8382000" y="1148310"/>
                  <a:pt x="8336510" y="1193800"/>
                  <a:pt x="8280396" y="1193800"/>
                </a:cubicBezTo>
                <a:lnTo>
                  <a:pt x="50800" y="1193800"/>
                </a:lnTo>
                <a:cubicBezTo>
                  <a:pt x="22744" y="1193800"/>
                  <a:pt x="0" y="1171056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048500" y="4466824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50800" h="1193800">
                <a:moveTo>
                  <a:pt x="50800" y="0"/>
                </a:moveTo>
                <a:lnTo>
                  <a:pt x="50800" y="0"/>
                </a:lnTo>
                <a:lnTo>
                  <a:pt x="50800" y="1193800"/>
                </a:lnTo>
                <a:lnTo>
                  <a:pt x="50800" y="1193800"/>
                </a:lnTo>
                <a:cubicBezTo>
                  <a:pt x="22763" y="1193800"/>
                  <a:pt x="0" y="1171037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7100" y="467002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6" name="Text 34"/>
          <p:cNvSpPr/>
          <p:nvPr/>
        </p:nvSpPr>
        <p:spPr>
          <a:xfrm>
            <a:off x="7226300" y="4670024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35900" y="4670024"/>
            <a:ext cx="722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首次进入显示操作提示动画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35900" y="5127224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在用户首次进入库存页时，展示滑动操作提示动画，帮助用户快速理解交互逻辑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73900" y="5863824"/>
            <a:ext cx="8382000" cy="965200"/>
          </a:xfrm>
          <a:custGeom>
            <a:avLst/>
            <a:gdLst/>
            <a:ahLst/>
            <a:cxnLst/>
            <a:rect l="l" t="t" r="r" b="b"/>
            <a:pathLst>
              <a:path w="4102100" h="965200">
                <a:moveTo>
                  <a:pt x="101597" y="0"/>
                </a:moveTo>
                <a:lnTo>
                  <a:pt x="4000503" y="0"/>
                </a:lnTo>
                <a:cubicBezTo>
                  <a:pt x="4056613" y="0"/>
                  <a:pt x="4102100" y="45487"/>
                  <a:pt x="4102100" y="101597"/>
                </a:cubicBezTo>
                <a:lnTo>
                  <a:pt x="4102100" y="863603"/>
                </a:lnTo>
                <a:cubicBezTo>
                  <a:pt x="4102100" y="919713"/>
                  <a:pt x="4056613" y="965200"/>
                  <a:pt x="40005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77100" y="6067024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74851"/>
                </a:moveTo>
                <a:cubicBezTo>
                  <a:pt x="0" y="33496"/>
                  <a:pt x="34131" y="0"/>
                  <a:pt x="76200" y="0"/>
                </a:cubicBezTo>
                <a:cubicBezTo>
                  <a:pt x="118269" y="0"/>
                  <a:pt x="152400" y="33496"/>
                  <a:pt x="152400" y="74851"/>
                </a:cubicBezTo>
                <a:cubicBezTo>
                  <a:pt x="152400" y="122198"/>
                  <a:pt x="104696" y="178951"/>
                  <a:pt x="84773" y="200581"/>
                </a:cubicBezTo>
                <a:cubicBezTo>
                  <a:pt x="80089" y="205661"/>
                  <a:pt x="72271" y="205661"/>
                  <a:pt x="67588" y="200581"/>
                </a:cubicBezTo>
                <a:cubicBezTo>
                  <a:pt x="47665" y="178951"/>
                  <a:pt x="-40" y="122198"/>
                  <a:pt x="-40" y="74851"/>
                </a:cubicBezTo>
                <a:close/>
                <a:moveTo>
                  <a:pt x="76200" y="101600"/>
                </a:moveTo>
                <a:cubicBezTo>
                  <a:pt x="90219" y="101600"/>
                  <a:pt x="101600" y="90219"/>
                  <a:pt x="101600" y="76200"/>
                </a:cubicBezTo>
                <a:cubicBezTo>
                  <a:pt x="101600" y="62181"/>
                  <a:pt x="90219" y="50800"/>
                  <a:pt x="76200" y="50800"/>
                </a:cubicBezTo>
                <a:cubicBezTo>
                  <a:pt x="62181" y="50800"/>
                  <a:pt x="50800" y="62181"/>
                  <a:pt x="50800" y="76200"/>
                </a:cubicBezTo>
                <a:cubicBezTo>
                  <a:pt x="50800" y="90219"/>
                  <a:pt x="62181" y="101600"/>
                  <a:pt x="76200" y="10160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1" name="Text 39"/>
          <p:cNvSpPr/>
          <p:nvPr/>
        </p:nvSpPr>
        <p:spPr>
          <a:xfrm>
            <a:off x="7581900" y="6016224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涉及页面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26300" y="6371824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库存管理页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86600" y="7032224"/>
            <a:ext cx="8382000" cy="965200"/>
          </a:xfrm>
          <a:custGeom>
            <a:avLst/>
            <a:gdLst/>
            <a:ahLst/>
            <a:cxnLst/>
            <a:rect l="l" t="t" r="r" b="b"/>
            <a:pathLst>
              <a:path w="4102100" h="965200">
                <a:moveTo>
                  <a:pt x="101597" y="0"/>
                </a:moveTo>
                <a:lnTo>
                  <a:pt x="4000503" y="0"/>
                </a:lnTo>
                <a:cubicBezTo>
                  <a:pt x="4056613" y="0"/>
                  <a:pt x="4102100" y="45487"/>
                  <a:pt x="4102100" y="101597"/>
                </a:cubicBezTo>
                <a:lnTo>
                  <a:pt x="4102100" y="863603"/>
                </a:lnTo>
                <a:cubicBezTo>
                  <a:pt x="4102100" y="919713"/>
                  <a:pt x="4056613" y="965200"/>
                  <a:pt x="40005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64400" y="723542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5" name="Text 43"/>
          <p:cNvSpPr/>
          <p:nvPr/>
        </p:nvSpPr>
        <p:spPr>
          <a:xfrm>
            <a:off x="7594600" y="7184624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预计工作量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39000" y="7540224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小（主要调整视觉反馈）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3400" y="727969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问题详解3：膳食规划页日历交互弱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489969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58800" y="1794769"/>
            <a:ext cx="7442200" cy="3200400"/>
          </a:xfrm>
          <a:custGeom>
            <a:avLst/>
            <a:gdLst/>
            <a:ahLst/>
            <a:cxnLst/>
            <a:rect l="l" t="t" r="r" b="b"/>
            <a:pathLst>
              <a:path w="7442200" h="3200400">
                <a:moveTo>
                  <a:pt x="50800" y="0"/>
                </a:moveTo>
                <a:lnTo>
                  <a:pt x="7289797" y="0"/>
                </a:lnTo>
                <a:cubicBezTo>
                  <a:pt x="7373967" y="0"/>
                  <a:pt x="7442200" y="68233"/>
                  <a:pt x="7442200" y="152403"/>
                </a:cubicBezTo>
                <a:lnTo>
                  <a:pt x="7442200" y="3047997"/>
                </a:lnTo>
                <a:cubicBezTo>
                  <a:pt x="7442200" y="3132167"/>
                  <a:pt x="7373967" y="3200400"/>
                  <a:pt x="728979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8800" y="1794769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0750" y="215036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8" name="Text 6"/>
          <p:cNvSpPr/>
          <p:nvPr/>
        </p:nvSpPr>
        <p:spPr>
          <a:xfrm>
            <a:off x="1206500" y="2099569"/>
            <a:ext cx="661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2658369"/>
            <a:ext cx="69088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点击日历日期后，下方食谱更新</a:t>
            </a:r>
            <a:r>
              <a:rPr lang="en-US" sz="1600" b="1" dirty="0">
                <a:solidFill>
                  <a:srgbClr val="F0F2F5">
                    <a:alpha val="80000"/>
                  </a:srgbClr>
                </a:solidFill>
                <a:highlight>
                  <a:srgbClr val="F0B10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无视觉过渡 </a:t>
            </a: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。用户无法感知数据已更新，缺乏即时的视觉反馈，导致交互体验不佳，用户需要特意观察下方内容才能确认变化。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" y="5249169"/>
            <a:ext cx="7442200" cy="3200400"/>
          </a:xfrm>
          <a:custGeom>
            <a:avLst/>
            <a:gdLst/>
            <a:ahLst/>
            <a:cxnLst/>
            <a:rect l="l" t="t" r="r" b="b"/>
            <a:pathLst>
              <a:path w="7442200" h="3200400">
                <a:moveTo>
                  <a:pt x="50800" y="0"/>
                </a:moveTo>
                <a:lnTo>
                  <a:pt x="7289797" y="0"/>
                </a:lnTo>
                <a:cubicBezTo>
                  <a:pt x="7373967" y="0"/>
                  <a:pt x="7442200" y="68233"/>
                  <a:pt x="7442200" y="152403"/>
                </a:cubicBezTo>
                <a:lnTo>
                  <a:pt x="7442200" y="3047997"/>
                </a:lnTo>
                <a:cubicBezTo>
                  <a:pt x="7442200" y="3132167"/>
                  <a:pt x="7373967" y="3200400"/>
                  <a:pt x="7289797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" y="5249169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2" name="Shape 10"/>
          <p:cNvSpPr/>
          <p:nvPr/>
        </p:nvSpPr>
        <p:spPr>
          <a:xfrm>
            <a:off x="920750" y="560476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38125"/>
                </a:moveTo>
                <a:cubicBezTo>
                  <a:pt x="197148" y="238125"/>
                  <a:pt x="254000" y="184795"/>
                  <a:pt x="254000" y="119063"/>
                </a:cubicBezTo>
                <a:cubicBezTo>
                  <a:pt x="254000" y="53330"/>
                  <a:pt x="197148" y="0"/>
                  <a:pt x="127000" y="0"/>
                </a:cubicBezTo>
                <a:cubicBezTo>
                  <a:pt x="56852" y="0"/>
                  <a:pt x="0" y="53330"/>
                  <a:pt x="0" y="119063"/>
                </a:cubicBezTo>
                <a:cubicBezTo>
                  <a:pt x="0" y="146000"/>
                  <a:pt x="9525" y="170805"/>
                  <a:pt x="25598" y="190748"/>
                </a:cubicBezTo>
                <a:lnTo>
                  <a:pt x="1389" y="236538"/>
                </a:lnTo>
                <a:cubicBezTo>
                  <a:pt x="-992" y="241002"/>
                  <a:pt x="-248" y="246459"/>
                  <a:pt x="3175" y="250180"/>
                </a:cubicBezTo>
                <a:cubicBezTo>
                  <a:pt x="6598" y="253901"/>
                  <a:pt x="12005" y="255042"/>
                  <a:pt x="16619" y="253057"/>
                </a:cubicBezTo>
                <a:lnTo>
                  <a:pt x="75357" y="227905"/>
                </a:lnTo>
                <a:cubicBezTo>
                  <a:pt x="91132" y="234454"/>
                  <a:pt x="108595" y="238125"/>
                  <a:pt x="127000" y="238125"/>
                </a:cubicBezTo>
                <a:close/>
                <a:moveTo>
                  <a:pt x="63500" y="103188"/>
                </a:moveTo>
                <a:cubicBezTo>
                  <a:pt x="72262" y="103188"/>
                  <a:pt x="79375" y="110301"/>
                  <a:pt x="79375" y="119063"/>
                </a:cubicBezTo>
                <a:cubicBezTo>
                  <a:pt x="79375" y="127824"/>
                  <a:pt x="72262" y="134938"/>
                  <a:pt x="63500" y="134938"/>
                </a:cubicBezTo>
                <a:cubicBezTo>
                  <a:pt x="54738" y="134938"/>
                  <a:pt x="47625" y="127824"/>
                  <a:pt x="47625" y="119063"/>
                </a:cubicBezTo>
                <a:cubicBezTo>
                  <a:pt x="47625" y="110301"/>
                  <a:pt x="54738" y="103188"/>
                  <a:pt x="63500" y="103188"/>
                </a:cubicBezTo>
                <a:close/>
                <a:moveTo>
                  <a:pt x="127000" y="103188"/>
                </a:moveTo>
                <a:cubicBezTo>
                  <a:pt x="135762" y="103188"/>
                  <a:pt x="142875" y="110301"/>
                  <a:pt x="142875" y="119063"/>
                </a:cubicBezTo>
                <a:cubicBezTo>
                  <a:pt x="142875" y="127824"/>
                  <a:pt x="135762" y="134938"/>
                  <a:pt x="127000" y="134938"/>
                </a:cubicBezTo>
                <a:cubicBezTo>
                  <a:pt x="118238" y="134938"/>
                  <a:pt x="111125" y="127824"/>
                  <a:pt x="111125" y="119063"/>
                </a:cubicBezTo>
                <a:cubicBezTo>
                  <a:pt x="111125" y="110301"/>
                  <a:pt x="118238" y="103188"/>
                  <a:pt x="127000" y="103188"/>
                </a:cubicBezTo>
                <a:close/>
                <a:moveTo>
                  <a:pt x="174625" y="119063"/>
                </a:moveTo>
                <a:cubicBezTo>
                  <a:pt x="174625" y="110301"/>
                  <a:pt x="181738" y="103188"/>
                  <a:pt x="190500" y="103188"/>
                </a:cubicBezTo>
                <a:cubicBezTo>
                  <a:pt x="199262" y="103188"/>
                  <a:pt x="206375" y="110301"/>
                  <a:pt x="206375" y="119063"/>
                </a:cubicBezTo>
                <a:cubicBezTo>
                  <a:pt x="206375" y="127824"/>
                  <a:pt x="199262" y="134938"/>
                  <a:pt x="190500" y="134938"/>
                </a:cubicBezTo>
                <a:cubicBezTo>
                  <a:pt x="181738" y="134938"/>
                  <a:pt x="174625" y="127824"/>
                  <a:pt x="174625" y="11906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" y="5553969"/>
            <a:ext cx="661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用户原话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6112769"/>
            <a:ext cx="6781800" cy="736600"/>
          </a:xfrm>
          <a:custGeom>
            <a:avLst/>
            <a:gdLst/>
            <a:ahLst/>
            <a:cxnLst/>
            <a:rect l="l" t="t" r="r" b="b"/>
            <a:pathLst>
              <a:path w="6781800" h="736600">
                <a:moveTo>
                  <a:pt x="50800" y="0"/>
                </a:moveTo>
                <a:lnTo>
                  <a:pt x="6680201" y="0"/>
                </a:lnTo>
                <a:cubicBezTo>
                  <a:pt x="6736312" y="0"/>
                  <a:pt x="6781800" y="45488"/>
                  <a:pt x="6781800" y="101599"/>
                </a:cubicBezTo>
                <a:lnTo>
                  <a:pt x="6781800" y="635001"/>
                </a:lnTo>
                <a:cubicBezTo>
                  <a:pt x="6781800" y="691112"/>
                  <a:pt x="6736312" y="736600"/>
                  <a:pt x="6680201" y="736600"/>
                </a:cubicBezTo>
                <a:lnTo>
                  <a:pt x="50800" y="736600"/>
                </a:lnTo>
                <a:cubicBezTo>
                  <a:pt x="22763" y="736600"/>
                  <a:pt x="0" y="713837"/>
                  <a:pt x="0" y="68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6112769"/>
            <a:ext cx="50800" cy="736600"/>
          </a:xfrm>
          <a:custGeom>
            <a:avLst/>
            <a:gdLst/>
            <a:ahLst/>
            <a:cxnLst/>
            <a:rect l="l" t="t" r="r" b="b"/>
            <a:pathLst>
              <a:path w="50800" h="736600">
                <a:moveTo>
                  <a:pt x="50800" y="0"/>
                </a:moveTo>
                <a:lnTo>
                  <a:pt x="50800" y="0"/>
                </a:lnTo>
                <a:lnTo>
                  <a:pt x="50800" y="736600"/>
                </a:lnTo>
                <a:lnTo>
                  <a:pt x="50800" y="736600"/>
                </a:lnTo>
                <a:cubicBezTo>
                  <a:pt x="22763" y="736600"/>
                  <a:pt x="0" y="713837"/>
                  <a:pt x="0" y="68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6315969"/>
            <a:ext cx="645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"点了日期没感觉，得特意看下面才知变了。"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" y="7052569"/>
            <a:ext cx="690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6名用户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反馈此问题，占比</a:t>
            </a:r>
            <a:r>
              <a:rPr lang="en-US" sz="16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，问题等级：</a:t>
            </a:r>
            <a:r>
              <a:rPr lang="en-US" sz="1600" b="1" dirty="0">
                <a:solidFill>
                  <a:srgbClr val="FDC700"/>
                </a:solidFill>
                <a:highlight>
                  <a:srgbClr val="F0B10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一般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2150" y="1801119"/>
            <a:ext cx="7454900" cy="6642100"/>
          </a:xfrm>
          <a:custGeom>
            <a:avLst/>
            <a:gdLst/>
            <a:ahLst/>
            <a:cxnLst/>
            <a:rect l="l" t="t" r="r" b="b"/>
            <a:pathLst>
              <a:path w="7454900" h="6642100">
                <a:moveTo>
                  <a:pt x="152370" y="0"/>
                </a:moveTo>
                <a:lnTo>
                  <a:pt x="7302530" y="0"/>
                </a:lnTo>
                <a:cubicBezTo>
                  <a:pt x="7386682" y="0"/>
                  <a:pt x="7454900" y="68218"/>
                  <a:pt x="7454900" y="152370"/>
                </a:cubicBezTo>
                <a:lnTo>
                  <a:pt x="7454900" y="6489730"/>
                </a:lnTo>
                <a:cubicBezTo>
                  <a:pt x="7454900" y="6573882"/>
                  <a:pt x="7386682" y="6642100"/>
                  <a:pt x="7302530" y="6642100"/>
                </a:cubicBezTo>
                <a:lnTo>
                  <a:pt x="152370" y="6642100"/>
                </a:lnTo>
                <a:cubicBezTo>
                  <a:pt x="68218" y="6642100"/>
                  <a:pt x="0" y="6573882"/>
                  <a:pt x="0" y="6489730"/>
                </a:cubicBezTo>
                <a:lnTo>
                  <a:pt x="0" y="152370"/>
                </a:lnTo>
                <a:cubicBezTo>
                  <a:pt x="0" y="68275"/>
                  <a:pt x="68275" y="0"/>
                  <a:pt x="15237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2163069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0" name="Text 18"/>
          <p:cNvSpPr/>
          <p:nvPr/>
        </p:nvSpPr>
        <p:spPr>
          <a:xfrm>
            <a:off x="8940800" y="2112269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48700" y="2836169"/>
            <a:ext cx="6807200" cy="1625600"/>
          </a:xfrm>
          <a:custGeom>
            <a:avLst/>
            <a:gdLst/>
            <a:ahLst/>
            <a:cxnLst/>
            <a:rect l="l" t="t" r="r" b="b"/>
            <a:pathLst>
              <a:path w="6807200" h="1625600">
                <a:moveTo>
                  <a:pt x="50800" y="0"/>
                </a:moveTo>
                <a:lnTo>
                  <a:pt x="6705600" y="0"/>
                </a:lnTo>
                <a:cubicBezTo>
                  <a:pt x="6761675" y="0"/>
                  <a:pt x="6807200" y="45525"/>
                  <a:pt x="6807200" y="101600"/>
                </a:cubicBezTo>
                <a:lnTo>
                  <a:pt x="6807200" y="1524000"/>
                </a:lnTo>
                <a:cubicBezTo>
                  <a:pt x="6807200" y="1580075"/>
                  <a:pt x="6761675" y="1625600"/>
                  <a:pt x="6705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48700" y="2836169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28100" y="309016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4" name="Text 22"/>
          <p:cNvSpPr/>
          <p:nvPr/>
        </p:nvSpPr>
        <p:spPr>
          <a:xfrm>
            <a:off x="8877300" y="3090169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86900" y="3090169"/>
            <a:ext cx="582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增加日期选中态颜色变化与微动画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86900" y="3547369"/>
            <a:ext cx="581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选中日期时添加</a:t>
            </a: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颜色高亮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微动画效果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，同时下方食谱列表添加过渡动画，让用户清晰感知数据更新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48700" y="4893569"/>
            <a:ext cx="6807200" cy="1625600"/>
          </a:xfrm>
          <a:custGeom>
            <a:avLst/>
            <a:gdLst/>
            <a:ahLst/>
            <a:cxnLst/>
            <a:rect l="l" t="t" r="r" b="b"/>
            <a:pathLst>
              <a:path w="6807200" h="1625600">
                <a:moveTo>
                  <a:pt x="50800" y="0"/>
                </a:moveTo>
                <a:lnTo>
                  <a:pt x="6705600" y="0"/>
                </a:lnTo>
                <a:cubicBezTo>
                  <a:pt x="6761675" y="0"/>
                  <a:pt x="6807200" y="45525"/>
                  <a:pt x="6807200" y="101600"/>
                </a:cubicBezTo>
                <a:lnTo>
                  <a:pt x="6807200" y="1524000"/>
                </a:lnTo>
                <a:cubicBezTo>
                  <a:pt x="6807200" y="1580075"/>
                  <a:pt x="6761675" y="1625600"/>
                  <a:pt x="6705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648700" y="4893569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9" name="Shape 27"/>
          <p:cNvSpPr/>
          <p:nvPr/>
        </p:nvSpPr>
        <p:spPr>
          <a:xfrm>
            <a:off x="8928100" y="514756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0" name="Text 28"/>
          <p:cNvSpPr/>
          <p:nvPr/>
        </p:nvSpPr>
        <p:spPr>
          <a:xfrm>
            <a:off x="8877300" y="5147569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86900" y="5147569"/>
            <a:ext cx="582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支持左右滑动切换日期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86900" y="5604769"/>
            <a:ext cx="5816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在日历区域支持左右滑动手势切换日期，提升交互便捷性，减少重复点击操作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23300" y="6950969"/>
            <a:ext cx="3314700" cy="1066800"/>
          </a:xfrm>
          <a:custGeom>
            <a:avLst/>
            <a:gdLst/>
            <a:ahLst/>
            <a:cxnLst/>
            <a:rect l="l" t="t" r="r" b="b"/>
            <a:pathLst>
              <a:path w="3314700" h="1066800">
                <a:moveTo>
                  <a:pt x="101602" y="0"/>
                </a:moveTo>
                <a:lnTo>
                  <a:pt x="3213098" y="0"/>
                </a:lnTo>
                <a:cubicBezTo>
                  <a:pt x="3269211" y="0"/>
                  <a:pt x="3314700" y="45489"/>
                  <a:pt x="3314700" y="101602"/>
                </a:cubicBezTo>
                <a:lnTo>
                  <a:pt x="3314700" y="965198"/>
                </a:lnTo>
                <a:cubicBezTo>
                  <a:pt x="3314700" y="1021311"/>
                  <a:pt x="3269211" y="1066800"/>
                  <a:pt x="3213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877300" y="7204969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74851"/>
                </a:moveTo>
                <a:cubicBezTo>
                  <a:pt x="0" y="33496"/>
                  <a:pt x="34131" y="0"/>
                  <a:pt x="76200" y="0"/>
                </a:cubicBezTo>
                <a:cubicBezTo>
                  <a:pt x="118269" y="0"/>
                  <a:pt x="152400" y="33496"/>
                  <a:pt x="152400" y="74851"/>
                </a:cubicBezTo>
                <a:cubicBezTo>
                  <a:pt x="152400" y="122198"/>
                  <a:pt x="104696" y="178951"/>
                  <a:pt x="84773" y="200581"/>
                </a:cubicBezTo>
                <a:cubicBezTo>
                  <a:pt x="80089" y="205661"/>
                  <a:pt x="72271" y="205661"/>
                  <a:pt x="67588" y="200581"/>
                </a:cubicBezTo>
                <a:cubicBezTo>
                  <a:pt x="47665" y="178951"/>
                  <a:pt x="-40" y="122198"/>
                  <a:pt x="-40" y="74851"/>
                </a:cubicBezTo>
                <a:close/>
                <a:moveTo>
                  <a:pt x="76200" y="101600"/>
                </a:moveTo>
                <a:cubicBezTo>
                  <a:pt x="90219" y="101600"/>
                  <a:pt x="101600" y="90219"/>
                  <a:pt x="101600" y="76200"/>
                </a:cubicBezTo>
                <a:cubicBezTo>
                  <a:pt x="101600" y="62181"/>
                  <a:pt x="90219" y="50800"/>
                  <a:pt x="76200" y="50800"/>
                </a:cubicBezTo>
                <a:cubicBezTo>
                  <a:pt x="62181" y="50800"/>
                  <a:pt x="50800" y="62181"/>
                  <a:pt x="50800" y="76200"/>
                </a:cubicBezTo>
                <a:cubicBezTo>
                  <a:pt x="50800" y="90219"/>
                  <a:pt x="62181" y="101600"/>
                  <a:pt x="76200" y="10160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5" name="Text 33"/>
          <p:cNvSpPr/>
          <p:nvPr/>
        </p:nvSpPr>
        <p:spPr>
          <a:xfrm>
            <a:off x="9182100" y="7154169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涉及页面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26500" y="7509769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膳食规划页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141200" y="6950969"/>
            <a:ext cx="3314700" cy="1066800"/>
          </a:xfrm>
          <a:custGeom>
            <a:avLst/>
            <a:gdLst/>
            <a:ahLst/>
            <a:cxnLst/>
            <a:rect l="l" t="t" r="r" b="b"/>
            <a:pathLst>
              <a:path w="3314700" h="1066800">
                <a:moveTo>
                  <a:pt x="101602" y="0"/>
                </a:moveTo>
                <a:lnTo>
                  <a:pt x="3213098" y="0"/>
                </a:lnTo>
                <a:cubicBezTo>
                  <a:pt x="3269211" y="0"/>
                  <a:pt x="3314700" y="45489"/>
                  <a:pt x="3314700" y="101602"/>
                </a:cubicBezTo>
                <a:lnTo>
                  <a:pt x="3314700" y="965198"/>
                </a:lnTo>
                <a:cubicBezTo>
                  <a:pt x="3314700" y="1021311"/>
                  <a:pt x="3269211" y="1066800"/>
                  <a:pt x="3213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2369800" y="7204969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9" name="Text 37"/>
          <p:cNvSpPr/>
          <p:nvPr/>
        </p:nvSpPr>
        <p:spPr>
          <a:xfrm>
            <a:off x="12700000" y="7154169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预计工作量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344400" y="7509769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小（主要添加动画效果）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8000" y="609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性能与体验评估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3716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76400"/>
            <a:ext cx="4889500" cy="3403600"/>
          </a:xfrm>
          <a:custGeom>
            <a:avLst/>
            <a:gdLst/>
            <a:ahLst/>
            <a:cxnLst/>
            <a:rect l="l" t="t" r="r" b="b"/>
            <a:pathLst>
              <a:path w="4889500" h="3403600">
                <a:moveTo>
                  <a:pt x="50800" y="0"/>
                </a:moveTo>
                <a:lnTo>
                  <a:pt x="4737087" y="0"/>
                </a:lnTo>
                <a:cubicBezTo>
                  <a:pt x="4821262" y="0"/>
                  <a:pt x="4889500" y="68238"/>
                  <a:pt x="4889500" y="152413"/>
                </a:cubicBezTo>
                <a:lnTo>
                  <a:pt x="4889500" y="3251187"/>
                </a:lnTo>
                <a:cubicBezTo>
                  <a:pt x="4889500" y="3335362"/>
                  <a:pt x="4821262" y="3403600"/>
                  <a:pt x="47370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3150" y="2159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7938" y="31750"/>
                </a:moveTo>
                <a:cubicBezTo>
                  <a:pt x="7938" y="14238"/>
                  <a:pt x="22175" y="0"/>
                  <a:pt x="39688" y="0"/>
                </a:cubicBezTo>
                <a:lnTo>
                  <a:pt x="150813" y="0"/>
                </a:lnTo>
                <a:cubicBezTo>
                  <a:pt x="168325" y="0"/>
                  <a:pt x="182563" y="14238"/>
                  <a:pt x="182563" y="31750"/>
                </a:cubicBezTo>
                <a:lnTo>
                  <a:pt x="182563" y="222250"/>
                </a:lnTo>
                <a:cubicBezTo>
                  <a:pt x="182563" y="239762"/>
                  <a:pt x="168325" y="254000"/>
                  <a:pt x="150813" y="254000"/>
                </a:cubicBezTo>
                <a:lnTo>
                  <a:pt x="39688" y="254000"/>
                </a:lnTo>
                <a:cubicBezTo>
                  <a:pt x="22175" y="254000"/>
                  <a:pt x="7938" y="239762"/>
                  <a:pt x="7938" y="222250"/>
                </a:cubicBezTo>
                <a:lnTo>
                  <a:pt x="7938" y="31750"/>
                </a:lnTo>
                <a:close/>
                <a:moveTo>
                  <a:pt x="39688" y="31750"/>
                </a:moveTo>
                <a:lnTo>
                  <a:pt x="39688" y="182563"/>
                </a:lnTo>
                <a:lnTo>
                  <a:pt x="150813" y="182563"/>
                </a:lnTo>
                <a:lnTo>
                  <a:pt x="150813" y="31750"/>
                </a:lnTo>
                <a:lnTo>
                  <a:pt x="39688" y="31750"/>
                </a:lnTo>
                <a:close/>
                <a:moveTo>
                  <a:pt x="95250" y="234156"/>
                </a:moveTo>
                <a:cubicBezTo>
                  <a:pt x="104031" y="234156"/>
                  <a:pt x="111125" y="227062"/>
                  <a:pt x="111125" y="218281"/>
                </a:cubicBezTo>
                <a:cubicBezTo>
                  <a:pt x="111125" y="209500"/>
                  <a:pt x="104031" y="202406"/>
                  <a:pt x="95250" y="202406"/>
                </a:cubicBezTo>
                <a:cubicBezTo>
                  <a:pt x="86469" y="202406"/>
                  <a:pt x="79375" y="209500"/>
                  <a:pt x="79375" y="218281"/>
                </a:cubicBezTo>
                <a:cubicBezTo>
                  <a:pt x="79375" y="227062"/>
                  <a:pt x="86469" y="234156"/>
                  <a:pt x="95250" y="234156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2108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界面适配性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100" y="2997200"/>
            <a:ext cx="463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4114800"/>
            <a:ext cx="4356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8款机型显示正常，卡片布局响应良好，未出现UI错位或显示异常问题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8034" y="1676400"/>
            <a:ext cx="4889500" cy="3403600"/>
          </a:xfrm>
          <a:custGeom>
            <a:avLst/>
            <a:gdLst/>
            <a:ahLst/>
            <a:cxnLst/>
            <a:rect l="l" t="t" r="r" b="b"/>
            <a:pathLst>
              <a:path w="4889500" h="3403600">
                <a:moveTo>
                  <a:pt x="50800" y="0"/>
                </a:moveTo>
                <a:lnTo>
                  <a:pt x="4737087" y="0"/>
                </a:lnTo>
                <a:cubicBezTo>
                  <a:pt x="4821262" y="0"/>
                  <a:pt x="4889500" y="68238"/>
                  <a:pt x="4889500" y="152413"/>
                </a:cubicBezTo>
                <a:lnTo>
                  <a:pt x="4889500" y="3251187"/>
                </a:lnTo>
                <a:cubicBezTo>
                  <a:pt x="4889500" y="3335362"/>
                  <a:pt x="4821262" y="3403600"/>
                  <a:pt x="47370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98034" y="16764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28234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21909" y="2159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6" name="Text 14"/>
          <p:cNvSpPr/>
          <p:nvPr/>
        </p:nvSpPr>
        <p:spPr>
          <a:xfrm>
            <a:off x="6790234" y="2108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启动速度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37734" y="2997200"/>
            <a:ext cx="463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28234" y="4114800"/>
            <a:ext cx="4356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平均启动时间小于1.5秒，用户无需等待即可进入应用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62667" y="1676400"/>
            <a:ext cx="4889500" cy="3403600"/>
          </a:xfrm>
          <a:custGeom>
            <a:avLst/>
            <a:gdLst/>
            <a:ahLst/>
            <a:cxnLst/>
            <a:rect l="l" t="t" r="r" b="b"/>
            <a:pathLst>
              <a:path w="4889500" h="3403600">
                <a:moveTo>
                  <a:pt x="50800" y="0"/>
                </a:moveTo>
                <a:lnTo>
                  <a:pt x="4737087" y="0"/>
                </a:lnTo>
                <a:cubicBezTo>
                  <a:pt x="4821262" y="0"/>
                  <a:pt x="4889500" y="68238"/>
                  <a:pt x="4889500" y="152413"/>
                </a:cubicBezTo>
                <a:lnTo>
                  <a:pt x="4889500" y="3251187"/>
                </a:lnTo>
                <a:cubicBezTo>
                  <a:pt x="4889500" y="3335362"/>
                  <a:pt x="4821262" y="3403600"/>
                  <a:pt x="47370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62667" y="16764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0B100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192867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B100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70667" y="215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954867" y="21082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交互流畅度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02367" y="2997200"/>
            <a:ext cx="463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92867" y="4114800"/>
            <a:ext cx="4356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部分页面切换有轻微卡顿（主要在Redmi Note 9机型），整体可接受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5334000"/>
            <a:ext cx="4889500" cy="3505200"/>
          </a:xfrm>
          <a:custGeom>
            <a:avLst/>
            <a:gdLst/>
            <a:ahLst/>
            <a:cxnLst/>
            <a:rect l="l" t="t" r="r" b="b"/>
            <a:pathLst>
              <a:path w="4889500" h="3505200">
                <a:moveTo>
                  <a:pt x="50800" y="0"/>
                </a:moveTo>
                <a:lnTo>
                  <a:pt x="4737094" y="0"/>
                </a:lnTo>
                <a:cubicBezTo>
                  <a:pt x="4821265" y="0"/>
                  <a:pt x="4889500" y="68235"/>
                  <a:pt x="4889500" y="152406"/>
                </a:cubicBezTo>
                <a:lnTo>
                  <a:pt x="4889500" y="3352794"/>
                </a:lnTo>
                <a:cubicBezTo>
                  <a:pt x="4889500" y="3436965"/>
                  <a:pt x="4821265" y="3505200"/>
                  <a:pt x="47370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53340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" y="563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41400" y="581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0" name="Text 28"/>
          <p:cNvSpPr/>
          <p:nvPr/>
        </p:nvSpPr>
        <p:spPr>
          <a:xfrm>
            <a:off x="1625600" y="5765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内存占用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3100" y="6654800"/>
            <a:ext cx="463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" y="7874000"/>
            <a:ext cx="4356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未出现闪退或卡死现象，内存管理合理，运行稳定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98034" y="5334000"/>
            <a:ext cx="4889500" cy="3505200"/>
          </a:xfrm>
          <a:custGeom>
            <a:avLst/>
            <a:gdLst/>
            <a:ahLst/>
            <a:cxnLst/>
            <a:rect l="l" t="t" r="r" b="b"/>
            <a:pathLst>
              <a:path w="4889500" h="3505200">
                <a:moveTo>
                  <a:pt x="50800" y="0"/>
                </a:moveTo>
                <a:lnTo>
                  <a:pt x="4737094" y="0"/>
                </a:lnTo>
                <a:cubicBezTo>
                  <a:pt x="4821265" y="0"/>
                  <a:pt x="4889500" y="68235"/>
                  <a:pt x="4889500" y="152406"/>
                </a:cubicBezTo>
                <a:lnTo>
                  <a:pt x="4889500" y="3352794"/>
                </a:lnTo>
                <a:cubicBezTo>
                  <a:pt x="4889500" y="3436965"/>
                  <a:pt x="4821265" y="3505200"/>
                  <a:pt x="47370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98034" y="53340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28234" y="563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90159" y="5816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5875"/>
                </a:moveTo>
                <a:cubicBezTo>
                  <a:pt x="102791" y="15875"/>
                  <a:pt x="70693" y="34131"/>
                  <a:pt x="47327" y="55860"/>
                </a:cubicBezTo>
                <a:cubicBezTo>
                  <a:pt x="24110" y="77440"/>
                  <a:pt x="8582" y="103188"/>
                  <a:pt x="1191" y="120898"/>
                </a:cubicBezTo>
                <a:cubicBezTo>
                  <a:pt x="-446" y="124817"/>
                  <a:pt x="-446" y="129183"/>
                  <a:pt x="1191" y="133102"/>
                </a:cubicBezTo>
                <a:cubicBezTo>
                  <a:pt x="8582" y="150813"/>
                  <a:pt x="24110" y="176609"/>
                  <a:pt x="47327" y="198140"/>
                </a:cubicBezTo>
                <a:cubicBezTo>
                  <a:pt x="70693" y="219819"/>
                  <a:pt x="102791" y="238125"/>
                  <a:pt x="142875" y="238125"/>
                </a:cubicBezTo>
                <a:cubicBezTo>
                  <a:pt x="182959" y="238125"/>
                  <a:pt x="215057" y="219869"/>
                  <a:pt x="238423" y="198140"/>
                </a:cubicBezTo>
                <a:cubicBezTo>
                  <a:pt x="261640" y="176560"/>
                  <a:pt x="277168" y="150813"/>
                  <a:pt x="284559" y="133102"/>
                </a:cubicBezTo>
                <a:cubicBezTo>
                  <a:pt x="286196" y="129183"/>
                  <a:pt x="286196" y="124817"/>
                  <a:pt x="284559" y="120898"/>
                </a:cubicBezTo>
                <a:cubicBezTo>
                  <a:pt x="277168" y="103187"/>
                  <a:pt x="261640" y="77391"/>
                  <a:pt x="238423" y="55860"/>
                </a:cubicBezTo>
                <a:cubicBezTo>
                  <a:pt x="215057" y="34181"/>
                  <a:pt x="182959" y="15875"/>
                  <a:pt x="142875" y="15875"/>
                </a:cubicBezTo>
                <a:close/>
                <a:moveTo>
                  <a:pt x="71438" y="127000"/>
                </a:moveTo>
                <a:cubicBezTo>
                  <a:pt x="71438" y="87573"/>
                  <a:pt x="103448" y="55563"/>
                  <a:pt x="142875" y="55563"/>
                </a:cubicBezTo>
                <a:cubicBezTo>
                  <a:pt x="182302" y="55563"/>
                  <a:pt x="214313" y="87573"/>
                  <a:pt x="214313" y="127000"/>
                </a:cubicBezTo>
                <a:cubicBezTo>
                  <a:pt x="214313" y="166427"/>
                  <a:pt x="182302" y="198438"/>
                  <a:pt x="142875" y="198438"/>
                </a:cubicBezTo>
                <a:cubicBezTo>
                  <a:pt x="103448" y="198438"/>
                  <a:pt x="71438" y="166427"/>
                  <a:pt x="71438" y="127000"/>
                </a:cubicBezTo>
                <a:close/>
                <a:moveTo>
                  <a:pt x="142875" y="95250"/>
                </a:moveTo>
                <a:cubicBezTo>
                  <a:pt x="142875" y="112762"/>
                  <a:pt x="128637" y="127000"/>
                  <a:pt x="111125" y="127000"/>
                </a:cubicBezTo>
                <a:cubicBezTo>
                  <a:pt x="105420" y="127000"/>
                  <a:pt x="100062" y="125512"/>
                  <a:pt x="95399" y="122833"/>
                </a:cubicBezTo>
                <a:cubicBezTo>
                  <a:pt x="94903" y="128240"/>
                  <a:pt x="95349" y="133796"/>
                  <a:pt x="96838" y="139303"/>
                </a:cubicBezTo>
                <a:cubicBezTo>
                  <a:pt x="103634" y="164703"/>
                  <a:pt x="129778" y="179784"/>
                  <a:pt x="155178" y="172988"/>
                </a:cubicBezTo>
                <a:cubicBezTo>
                  <a:pt x="180578" y="166191"/>
                  <a:pt x="195659" y="140047"/>
                  <a:pt x="188863" y="114647"/>
                </a:cubicBezTo>
                <a:cubicBezTo>
                  <a:pt x="182811" y="91976"/>
                  <a:pt x="161330" y="77539"/>
                  <a:pt x="138708" y="79524"/>
                </a:cubicBezTo>
                <a:cubicBezTo>
                  <a:pt x="141337" y="84138"/>
                  <a:pt x="142875" y="89495"/>
                  <a:pt x="142875" y="9525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37" name="Text 35"/>
          <p:cNvSpPr/>
          <p:nvPr/>
        </p:nvSpPr>
        <p:spPr>
          <a:xfrm>
            <a:off x="6790234" y="57658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视觉清晰度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37734" y="6654800"/>
            <a:ext cx="463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好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28234" y="8204200"/>
            <a:ext cx="4356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绿色主题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600" b="1" dirty="0">
                <a:solidFill>
                  <a:srgbClr val="F0F2F5">
                    <a:alpha val="7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卡片设计 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受到用户好评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62667" y="5334000"/>
            <a:ext cx="4889500" cy="3505200"/>
          </a:xfrm>
          <a:custGeom>
            <a:avLst/>
            <a:gdLst/>
            <a:ahLst/>
            <a:cxnLst/>
            <a:rect l="l" t="t" r="r" b="b"/>
            <a:pathLst>
              <a:path w="4889500" h="3505200">
                <a:moveTo>
                  <a:pt x="50800" y="0"/>
                </a:moveTo>
                <a:lnTo>
                  <a:pt x="4737094" y="0"/>
                </a:lnTo>
                <a:cubicBezTo>
                  <a:pt x="4821265" y="0"/>
                  <a:pt x="4889500" y="68235"/>
                  <a:pt x="4889500" y="152406"/>
                </a:cubicBezTo>
                <a:lnTo>
                  <a:pt x="4889500" y="3352794"/>
                </a:lnTo>
                <a:cubicBezTo>
                  <a:pt x="4889500" y="3436965"/>
                  <a:pt x="4821265" y="3505200"/>
                  <a:pt x="47370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862667" y="53340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24617" y="568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3" name="Text 41"/>
          <p:cNvSpPr/>
          <p:nvPr/>
        </p:nvSpPr>
        <p:spPr>
          <a:xfrm>
            <a:off x="11510367" y="56388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综合评估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92867" y="6197600"/>
            <a:ext cx="4356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兼容性表现优秀，8款机型全部通过测试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92867" y="6680200"/>
            <a:ext cx="4356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启动速度快，用户体验良好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92867" y="7162800"/>
            <a:ext cx="4356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视觉设计清晰友好，主题色受欢迎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92867" y="7645400"/>
            <a:ext cx="4356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建议优化部分机型的流畅度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92867" y="8178800"/>
            <a:ext cx="435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整体表现：</a:t>
            </a:r>
            <a:r>
              <a:rPr lang="en-US" sz="2000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良好</a:t>
            </a: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，具备上线基础条件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731D-ED12-954A-2F8F-B09B8DCA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>
            <a:extLst>
              <a:ext uri="{FF2B5EF4-FFF2-40B4-BE49-F238E27FC236}">
                <a16:creationId xmlns:a16="http://schemas.microsoft.com/office/drawing/2014/main" id="{BEDCC382-F678-0B49-96A5-4AF9CE2C3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07CE4AC-E7E0-A5CC-2E99-45E74BB8EC9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F4A508-4DAA-AD76-10F6-732D3198D81B}"/>
              </a:ext>
            </a:extLst>
          </p:cNvPr>
          <p:cNvSpPr/>
          <p:nvPr/>
        </p:nvSpPr>
        <p:spPr>
          <a:xfrm>
            <a:off x="5045845" y="2641600"/>
            <a:ext cx="616430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PART THREE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475F8EC-3943-2646-7FE6-F824381CC0CE}"/>
              </a:ext>
            </a:extLst>
          </p:cNvPr>
          <p:cNvSpPr/>
          <p:nvPr/>
        </p:nvSpPr>
        <p:spPr>
          <a:xfrm>
            <a:off x="6113756" y="4450857"/>
            <a:ext cx="402848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zh-CN" altLang="en-US" sz="4800" b="1" dirty="0">
                <a:solidFill>
                  <a:srgbClr val="7DAA92"/>
                </a:solidFill>
                <a:latin typeface="阿里妈妈数黑体" pitchFamily="34" charset="0"/>
                <a:ea typeface="阿里妈妈数黑体" pitchFamily="34" charset="-122"/>
              </a:rPr>
              <a:t>用户体验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62343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8000" y="754602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用户反馈亮点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16602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214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8214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246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21262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9174" y="25717"/>
                </a:moveTo>
                <a:lnTo>
                  <a:pt x="55047" y="38100"/>
                </a:lnTo>
                <a:lnTo>
                  <a:pt x="25400" y="38100"/>
                </a:lnTo>
                <a:cubicBezTo>
                  <a:pt x="11390" y="38100"/>
                  <a:pt x="0" y="49490"/>
                  <a:pt x="0" y="635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77800" y="190500"/>
                </a:lnTo>
                <a:cubicBezTo>
                  <a:pt x="191810" y="190500"/>
                  <a:pt x="203200" y="179110"/>
                  <a:pt x="203200" y="165100"/>
                </a:cubicBezTo>
                <a:lnTo>
                  <a:pt x="203200" y="63500"/>
                </a:lnTo>
                <a:cubicBezTo>
                  <a:pt x="203200" y="49490"/>
                  <a:pt x="191810" y="38100"/>
                  <a:pt x="177800" y="38100"/>
                </a:cubicBezTo>
                <a:lnTo>
                  <a:pt x="148153" y="38100"/>
                </a:lnTo>
                <a:lnTo>
                  <a:pt x="144026" y="25717"/>
                </a:lnTo>
                <a:cubicBezTo>
                  <a:pt x="141446" y="17939"/>
                  <a:pt x="134183" y="12700"/>
                  <a:pt x="125968" y="12700"/>
                </a:cubicBezTo>
                <a:lnTo>
                  <a:pt x="77232" y="12700"/>
                </a:lnTo>
                <a:cubicBezTo>
                  <a:pt x="69017" y="12700"/>
                  <a:pt x="61754" y="17939"/>
                  <a:pt x="59174" y="25717"/>
                </a:cubicBezTo>
                <a:close/>
                <a:moveTo>
                  <a:pt x="101600" y="76200"/>
                </a:moveTo>
                <a:cubicBezTo>
                  <a:pt x="122628" y="76200"/>
                  <a:pt x="139700" y="93272"/>
                  <a:pt x="139700" y="114300"/>
                </a:cubicBezTo>
                <a:cubicBezTo>
                  <a:pt x="139700" y="135328"/>
                  <a:pt x="122628" y="152400"/>
                  <a:pt x="101600" y="152400"/>
                </a:cubicBezTo>
                <a:cubicBezTo>
                  <a:pt x="80572" y="152400"/>
                  <a:pt x="63500" y="135328"/>
                  <a:pt x="63500" y="114300"/>
                </a:cubicBezTo>
                <a:cubicBezTo>
                  <a:pt x="63500" y="93272"/>
                  <a:pt x="80572" y="76200"/>
                  <a:pt x="101600" y="7620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075402"/>
            <a:ext cx="45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5834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录入时可拍照识别食材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9898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满意度：4.5/5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94200" y="18214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94200" y="18214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22800" y="20246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24400" y="21262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25400"/>
                </a:moveTo>
                <a:cubicBezTo>
                  <a:pt x="7580" y="25400"/>
                  <a:pt x="2937" y="28496"/>
                  <a:pt x="953" y="33258"/>
                </a:cubicBezTo>
                <a:cubicBezTo>
                  <a:pt x="-1032" y="38021"/>
                  <a:pt x="79" y="43458"/>
                  <a:pt x="3731" y="47069"/>
                </a:cubicBezTo>
                <a:lnTo>
                  <a:pt x="76200" y="119578"/>
                </a:lnTo>
                <a:lnTo>
                  <a:pt x="76200" y="165100"/>
                </a:lnTo>
                <a:cubicBezTo>
                  <a:pt x="76200" y="168473"/>
                  <a:pt x="77549" y="171688"/>
                  <a:pt x="79931" y="174069"/>
                </a:cubicBezTo>
                <a:lnTo>
                  <a:pt x="105331" y="199469"/>
                </a:lnTo>
                <a:cubicBezTo>
                  <a:pt x="108982" y="203121"/>
                  <a:pt x="114419" y="204192"/>
                  <a:pt x="119182" y="202208"/>
                </a:cubicBezTo>
                <a:cubicBezTo>
                  <a:pt x="123944" y="200223"/>
                  <a:pt x="127000" y="195620"/>
                  <a:pt x="127000" y="190500"/>
                </a:cubicBezTo>
                <a:lnTo>
                  <a:pt x="127000" y="119578"/>
                </a:lnTo>
                <a:lnTo>
                  <a:pt x="199469" y="47109"/>
                </a:lnTo>
                <a:cubicBezTo>
                  <a:pt x="203121" y="43458"/>
                  <a:pt x="204192" y="38021"/>
                  <a:pt x="202208" y="33258"/>
                </a:cubicBezTo>
                <a:cubicBezTo>
                  <a:pt x="200223" y="28496"/>
                  <a:pt x="195620" y="25400"/>
                  <a:pt x="190500" y="25400"/>
                </a:cubicBezTo>
                <a:lnTo>
                  <a:pt x="12700" y="2540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6" name="Text 14"/>
          <p:cNvSpPr/>
          <p:nvPr/>
        </p:nvSpPr>
        <p:spPr>
          <a:xfrm>
            <a:off x="5130800" y="2075402"/>
            <a:ext cx="48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22800" y="25834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库存页增加分类筛选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2800" y="29898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满意度：4.0/5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18214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55000" y="18214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1" name="Shape 19"/>
          <p:cNvSpPr/>
          <p:nvPr/>
        </p:nvSpPr>
        <p:spPr>
          <a:xfrm>
            <a:off x="8483600" y="20246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97900" y="212620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01600" y="12700"/>
                </a:moveTo>
                <a:cubicBezTo>
                  <a:pt x="101600" y="5675"/>
                  <a:pt x="95925" y="0"/>
                  <a:pt x="88900" y="0"/>
                </a:cubicBezTo>
                <a:cubicBezTo>
                  <a:pt x="81875" y="0"/>
                  <a:pt x="76200" y="5675"/>
                  <a:pt x="76200" y="12700"/>
                </a:cubicBezTo>
                <a:lnTo>
                  <a:pt x="76200" y="96322"/>
                </a:lnTo>
                <a:lnTo>
                  <a:pt x="59769" y="79891"/>
                </a:lnTo>
                <a:cubicBezTo>
                  <a:pt x="54808" y="74930"/>
                  <a:pt x="46752" y="74930"/>
                  <a:pt x="41791" y="79891"/>
                </a:cubicBezTo>
                <a:cubicBezTo>
                  <a:pt x="36830" y="84852"/>
                  <a:pt x="36830" y="92908"/>
                  <a:pt x="41791" y="97869"/>
                </a:cubicBezTo>
                <a:lnTo>
                  <a:pt x="79891" y="135969"/>
                </a:lnTo>
                <a:cubicBezTo>
                  <a:pt x="84852" y="140930"/>
                  <a:pt x="92908" y="140930"/>
                  <a:pt x="97869" y="135969"/>
                </a:cubicBezTo>
                <a:lnTo>
                  <a:pt x="135969" y="97869"/>
                </a:lnTo>
                <a:cubicBezTo>
                  <a:pt x="140930" y="92908"/>
                  <a:pt x="140930" y="84852"/>
                  <a:pt x="135969" y="79891"/>
                </a:cubicBezTo>
                <a:cubicBezTo>
                  <a:pt x="131008" y="74930"/>
                  <a:pt x="122952" y="74930"/>
                  <a:pt x="117991" y="79891"/>
                </a:cubicBezTo>
                <a:lnTo>
                  <a:pt x="101600" y="96322"/>
                </a:lnTo>
                <a:lnTo>
                  <a:pt x="101600" y="12700"/>
                </a:lnTo>
                <a:close/>
                <a:moveTo>
                  <a:pt x="25400" y="127000"/>
                </a:moveTo>
                <a:cubicBezTo>
                  <a:pt x="11390" y="127000"/>
                  <a:pt x="0" y="138390"/>
                  <a:pt x="0" y="1524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52400"/>
                </a:lnTo>
                <a:cubicBezTo>
                  <a:pt x="177800" y="138390"/>
                  <a:pt x="166410" y="127000"/>
                  <a:pt x="152400" y="127000"/>
                </a:cubicBezTo>
                <a:lnTo>
                  <a:pt x="133787" y="127000"/>
                </a:lnTo>
                <a:lnTo>
                  <a:pt x="111323" y="149463"/>
                </a:lnTo>
                <a:cubicBezTo>
                  <a:pt x="98941" y="161846"/>
                  <a:pt x="78819" y="161846"/>
                  <a:pt x="66437" y="149463"/>
                </a:cubicBezTo>
                <a:lnTo>
                  <a:pt x="44013" y="127000"/>
                </a:lnTo>
                <a:lnTo>
                  <a:pt x="25400" y="127000"/>
                </a:lnTo>
                <a:close/>
                <a:moveTo>
                  <a:pt x="146050" y="149225"/>
                </a:moveTo>
                <a:cubicBezTo>
                  <a:pt x="151307" y="149225"/>
                  <a:pt x="155575" y="153493"/>
                  <a:pt x="155575" y="158750"/>
                </a:cubicBezTo>
                <a:cubicBezTo>
                  <a:pt x="155575" y="164007"/>
                  <a:pt x="151307" y="168275"/>
                  <a:pt x="146050" y="168275"/>
                </a:cubicBezTo>
                <a:cubicBezTo>
                  <a:pt x="140793" y="168275"/>
                  <a:pt x="136525" y="164007"/>
                  <a:pt x="136525" y="158750"/>
                </a:cubicBezTo>
                <a:cubicBezTo>
                  <a:pt x="136525" y="153493"/>
                  <a:pt x="140793" y="149225"/>
                  <a:pt x="146050" y="14922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3" name="Text 21"/>
          <p:cNvSpPr/>
          <p:nvPr/>
        </p:nvSpPr>
        <p:spPr>
          <a:xfrm>
            <a:off x="8991600" y="20754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3600" y="25834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膳食规划可导出清单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83600" y="29898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满意度：4.3/5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15800" y="18214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115800" y="18214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44400" y="20246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58700" y="212620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0"/>
                </a:moveTo>
                <a:cubicBezTo>
                  <a:pt x="81875" y="0"/>
                  <a:pt x="76200" y="5675"/>
                  <a:pt x="76200" y="12700"/>
                </a:cubicBezTo>
                <a:lnTo>
                  <a:pt x="76200" y="13970"/>
                </a:lnTo>
                <a:cubicBezTo>
                  <a:pt x="47228" y="19844"/>
                  <a:pt x="25400" y="45482"/>
                  <a:pt x="25400" y="76200"/>
                </a:cubicBezTo>
                <a:lnTo>
                  <a:pt x="25400" y="84812"/>
                </a:lnTo>
                <a:cubicBezTo>
                  <a:pt x="25400" y="103902"/>
                  <a:pt x="18891" y="122436"/>
                  <a:pt x="6985" y="137358"/>
                </a:cubicBezTo>
                <a:lnTo>
                  <a:pt x="3096" y="142200"/>
                </a:lnTo>
                <a:cubicBezTo>
                  <a:pt x="1072" y="144701"/>
                  <a:pt x="0" y="147796"/>
                  <a:pt x="0" y="151011"/>
                </a:cubicBezTo>
                <a:cubicBezTo>
                  <a:pt x="0" y="158790"/>
                  <a:pt x="6310" y="165100"/>
                  <a:pt x="14089" y="165100"/>
                </a:cubicBezTo>
                <a:lnTo>
                  <a:pt x="163671" y="165100"/>
                </a:lnTo>
                <a:cubicBezTo>
                  <a:pt x="171450" y="165100"/>
                  <a:pt x="177760" y="158790"/>
                  <a:pt x="177760" y="151011"/>
                </a:cubicBezTo>
                <a:cubicBezTo>
                  <a:pt x="177760" y="147796"/>
                  <a:pt x="176689" y="144701"/>
                  <a:pt x="174665" y="142200"/>
                </a:cubicBezTo>
                <a:lnTo>
                  <a:pt x="170775" y="137358"/>
                </a:lnTo>
                <a:cubicBezTo>
                  <a:pt x="158909" y="122436"/>
                  <a:pt x="152400" y="103902"/>
                  <a:pt x="152400" y="84812"/>
                </a:cubicBezTo>
                <a:lnTo>
                  <a:pt x="152400" y="76200"/>
                </a:lnTo>
                <a:cubicBezTo>
                  <a:pt x="152400" y="45482"/>
                  <a:pt x="130572" y="19844"/>
                  <a:pt x="101600" y="13970"/>
                </a:cubicBezTo>
                <a:lnTo>
                  <a:pt x="101600" y="12700"/>
                </a:lnTo>
                <a:cubicBezTo>
                  <a:pt x="101600" y="5675"/>
                  <a:pt x="95925" y="0"/>
                  <a:pt x="88900" y="0"/>
                </a:cubicBezTo>
                <a:close/>
                <a:moveTo>
                  <a:pt x="64294" y="184150"/>
                </a:moveTo>
                <a:cubicBezTo>
                  <a:pt x="67112" y="195104"/>
                  <a:pt x="77073" y="203200"/>
                  <a:pt x="88900" y="203200"/>
                </a:cubicBezTo>
                <a:cubicBezTo>
                  <a:pt x="100727" y="203200"/>
                  <a:pt x="110688" y="195104"/>
                  <a:pt x="113506" y="184150"/>
                </a:cubicBezTo>
                <a:lnTo>
                  <a:pt x="64294" y="18415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0" name="Text 28"/>
          <p:cNvSpPr/>
          <p:nvPr/>
        </p:nvSpPr>
        <p:spPr>
          <a:xfrm>
            <a:off x="12852400" y="20754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0" y="25834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添加食材过期提醒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44400" y="29898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满意度：4.1/5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3400" y="36502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3400" y="36502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38534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9800" y="3955002"/>
            <a:ext cx="50800" cy="203200"/>
          </a:xfrm>
          <a:custGeom>
            <a:avLst/>
            <a:gdLst/>
            <a:ahLst/>
            <a:cxnLst/>
            <a:rect l="l" t="t" r="r" b="b"/>
            <a:pathLst>
              <a:path w="50800" h="203200">
                <a:moveTo>
                  <a:pt x="38100" y="12700"/>
                </a:moveTo>
                <a:cubicBezTo>
                  <a:pt x="38100" y="5675"/>
                  <a:pt x="32425" y="0"/>
                  <a:pt x="25400" y="0"/>
                </a:cubicBezTo>
                <a:cubicBezTo>
                  <a:pt x="18375" y="0"/>
                  <a:pt x="12700" y="5675"/>
                  <a:pt x="12700" y="12700"/>
                </a:cubicBezTo>
                <a:lnTo>
                  <a:pt x="12700" y="139700"/>
                </a:lnTo>
                <a:cubicBezTo>
                  <a:pt x="12700" y="146725"/>
                  <a:pt x="18375" y="152400"/>
                  <a:pt x="25400" y="152400"/>
                </a:cubicBezTo>
                <a:cubicBezTo>
                  <a:pt x="32425" y="152400"/>
                  <a:pt x="38100" y="146725"/>
                  <a:pt x="38100" y="139700"/>
                </a:cubicBezTo>
                <a:lnTo>
                  <a:pt x="38100" y="12700"/>
                </a:lnTo>
                <a:close/>
                <a:moveTo>
                  <a:pt x="25400" y="203200"/>
                </a:moveTo>
                <a:cubicBezTo>
                  <a:pt x="34171" y="203200"/>
                  <a:pt x="41275" y="196096"/>
                  <a:pt x="41275" y="187325"/>
                </a:cubicBezTo>
                <a:cubicBezTo>
                  <a:pt x="41275" y="178554"/>
                  <a:pt x="34171" y="171450"/>
                  <a:pt x="25400" y="171450"/>
                </a:cubicBezTo>
                <a:cubicBezTo>
                  <a:pt x="16629" y="171450"/>
                  <a:pt x="9525" y="178554"/>
                  <a:pt x="9525" y="187325"/>
                </a:cubicBezTo>
                <a:cubicBezTo>
                  <a:pt x="9525" y="196096"/>
                  <a:pt x="16629" y="203200"/>
                  <a:pt x="25400" y="2032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7" name="Text 35"/>
          <p:cNvSpPr/>
          <p:nvPr/>
        </p:nvSpPr>
        <p:spPr>
          <a:xfrm>
            <a:off x="1270000" y="39042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44122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日历页面操作太复杂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48186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满意度：3.8/5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94200" y="36502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94200" y="36502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2" name="Shape 40"/>
          <p:cNvSpPr/>
          <p:nvPr/>
        </p:nvSpPr>
        <p:spPr>
          <a:xfrm>
            <a:off x="4622800" y="38534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24400" y="39550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875" y="19050"/>
                </a:moveTo>
                <a:cubicBezTo>
                  <a:pt x="10597" y="19050"/>
                  <a:pt x="6350" y="23297"/>
                  <a:pt x="6350" y="28575"/>
                </a:cubicBezTo>
                <a:lnTo>
                  <a:pt x="6350" y="47625"/>
                </a:lnTo>
                <a:cubicBezTo>
                  <a:pt x="6350" y="52903"/>
                  <a:pt x="10597" y="57150"/>
                  <a:pt x="15875" y="57150"/>
                </a:cubicBezTo>
                <a:lnTo>
                  <a:pt x="34925" y="57150"/>
                </a:lnTo>
                <a:cubicBezTo>
                  <a:pt x="40203" y="57150"/>
                  <a:pt x="44450" y="52903"/>
                  <a:pt x="44450" y="47625"/>
                </a:cubicBezTo>
                <a:lnTo>
                  <a:pt x="44450" y="28575"/>
                </a:lnTo>
                <a:cubicBezTo>
                  <a:pt x="44450" y="23297"/>
                  <a:pt x="40203" y="19050"/>
                  <a:pt x="34925" y="19050"/>
                </a:cubicBezTo>
                <a:lnTo>
                  <a:pt x="15875" y="19050"/>
                </a:lnTo>
                <a:close/>
                <a:moveTo>
                  <a:pt x="76200" y="25400"/>
                </a:moveTo>
                <a:cubicBezTo>
                  <a:pt x="69175" y="25400"/>
                  <a:pt x="63500" y="31075"/>
                  <a:pt x="63500" y="38100"/>
                </a:cubicBezTo>
                <a:cubicBezTo>
                  <a:pt x="63500" y="45125"/>
                  <a:pt x="69175" y="50800"/>
                  <a:pt x="76200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76200" y="25400"/>
                </a:lnTo>
                <a:close/>
                <a:moveTo>
                  <a:pt x="76200" y="88900"/>
                </a:moveTo>
                <a:cubicBezTo>
                  <a:pt x="69175" y="88900"/>
                  <a:pt x="63500" y="94575"/>
                  <a:pt x="63500" y="101600"/>
                </a:cubicBezTo>
                <a:cubicBezTo>
                  <a:pt x="63500" y="108625"/>
                  <a:pt x="69175" y="114300"/>
                  <a:pt x="76200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76200" y="88900"/>
                </a:lnTo>
                <a:close/>
                <a:moveTo>
                  <a:pt x="76200" y="152400"/>
                </a:moveTo>
                <a:cubicBezTo>
                  <a:pt x="69175" y="152400"/>
                  <a:pt x="63500" y="158075"/>
                  <a:pt x="63500" y="165100"/>
                </a:cubicBezTo>
                <a:cubicBezTo>
                  <a:pt x="63500" y="172125"/>
                  <a:pt x="69175" y="177800"/>
                  <a:pt x="76200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76200" y="152400"/>
                </a:lnTo>
                <a:close/>
                <a:moveTo>
                  <a:pt x="6350" y="92075"/>
                </a:moveTo>
                <a:lnTo>
                  <a:pt x="6350" y="111125"/>
                </a:lnTo>
                <a:cubicBezTo>
                  <a:pt x="6350" y="116403"/>
                  <a:pt x="10597" y="120650"/>
                  <a:pt x="15875" y="120650"/>
                </a:cubicBezTo>
                <a:lnTo>
                  <a:pt x="34925" y="120650"/>
                </a:lnTo>
                <a:cubicBezTo>
                  <a:pt x="40203" y="120650"/>
                  <a:pt x="44450" y="116403"/>
                  <a:pt x="44450" y="111125"/>
                </a:cubicBezTo>
                <a:lnTo>
                  <a:pt x="44450" y="92075"/>
                </a:lnTo>
                <a:cubicBezTo>
                  <a:pt x="44450" y="86797"/>
                  <a:pt x="40203" y="82550"/>
                  <a:pt x="34925" y="82550"/>
                </a:cubicBezTo>
                <a:lnTo>
                  <a:pt x="15875" y="82550"/>
                </a:lnTo>
                <a:cubicBezTo>
                  <a:pt x="10597" y="82550"/>
                  <a:pt x="6350" y="86797"/>
                  <a:pt x="6350" y="92075"/>
                </a:cubicBezTo>
                <a:close/>
                <a:moveTo>
                  <a:pt x="15875" y="146050"/>
                </a:moveTo>
                <a:cubicBezTo>
                  <a:pt x="10597" y="146050"/>
                  <a:pt x="6350" y="150297"/>
                  <a:pt x="6350" y="155575"/>
                </a:cubicBezTo>
                <a:lnTo>
                  <a:pt x="6350" y="174625"/>
                </a:lnTo>
                <a:cubicBezTo>
                  <a:pt x="6350" y="179903"/>
                  <a:pt x="10597" y="184150"/>
                  <a:pt x="15875" y="184150"/>
                </a:cubicBezTo>
                <a:lnTo>
                  <a:pt x="34925" y="184150"/>
                </a:lnTo>
                <a:cubicBezTo>
                  <a:pt x="40203" y="184150"/>
                  <a:pt x="44450" y="179903"/>
                  <a:pt x="44450" y="174625"/>
                </a:cubicBezTo>
                <a:lnTo>
                  <a:pt x="44450" y="155575"/>
                </a:lnTo>
                <a:cubicBezTo>
                  <a:pt x="44450" y="150297"/>
                  <a:pt x="40203" y="146050"/>
                  <a:pt x="34925" y="146050"/>
                </a:cubicBezTo>
                <a:lnTo>
                  <a:pt x="15875" y="146050"/>
                </a:ln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44" name="Text 42"/>
          <p:cNvSpPr/>
          <p:nvPr/>
        </p:nvSpPr>
        <p:spPr>
          <a:xfrm>
            <a:off x="5130800" y="39042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2800" y="44122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支持批量导入食材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622800" y="48186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满意度：4.4/5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5000" y="36502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5000" y="36502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49" name="Shape 47"/>
          <p:cNvSpPr/>
          <p:nvPr/>
        </p:nvSpPr>
        <p:spPr>
          <a:xfrm>
            <a:off x="8483600" y="38534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85200" y="39550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1" name="Text 49"/>
          <p:cNvSpPr/>
          <p:nvPr/>
        </p:nvSpPr>
        <p:spPr>
          <a:xfrm>
            <a:off x="8991600" y="3904202"/>
            <a:ext cx="48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83600" y="44122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滑动删除需二次确认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83600" y="48186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满意度：4.2/5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115800" y="36502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2115800" y="36502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56" name="Shape 54"/>
          <p:cNvSpPr/>
          <p:nvPr/>
        </p:nvSpPr>
        <p:spPr>
          <a:xfrm>
            <a:off x="12344400" y="38534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2458700" y="395500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58" name="Text 56"/>
          <p:cNvSpPr/>
          <p:nvPr/>
        </p:nvSpPr>
        <p:spPr>
          <a:xfrm>
            <a:off x="12852400" y="39042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2344400" y="44122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界面简洁，无需过多修改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344400" y="48186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满意度：4.6/5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33400" y="54790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33400" y="54790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" y="56822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3600" y="57838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3315" y="29647"/>
                </a:moveTo>
                <a:lnTo>
                  <a:pt x="177800" y="33893"/>
                </a:lnTo>
                <a:lnTo>
                  <a:pt x="177800" y="12700"/>
                </a:lnTo>
                <a:cubicBezTo>
                  <a:pt x="177800" y="5675"/>
                  <a:pt x="183475" y="0"/>
                  <a:pt x="190500" y="0"/>
                </a:cubicBezTo>
                <a:cubicBezTo>
                  <a:pt x="197525" y="0"/>
                  <a:pt x="203200" y="5675"/>
                  <a:pt x="203200" y="12700"/>
                </a:cubicBezTo>
                <a:lnTo>
                  <a:pt x="203200" y="63500"/>
                </a:lnTo>
                <a:cubicBezTo>
                  <a:pt x="203200" y="70525"/>
                  <a:pt x="197525" y="76200"/>
                  <a:pt x="190500" y="76200"/>
                </a:cubicBezTo>
                <a:lnTo>
                  <a:pt x="139700" y="76200"/>
                </a:lnTo>
                <a:cubicBezTo>
                  <a:pt x="132675" y="76200"/>
                  <a:pt x="127000" y="70525"/>
                  <a:pt x="127000" y="63500"/>
                </a:cubicBezTo>
                <a:cubicBezTo>
                  <a:pt x="127000" y="56475"/>
                  <a:pt x="132675" y="50800"/>
                  <a:pt x="139700" y="50800"/>
                </a:cubicBezTo>
                <a:lnTo>
                  <a:pt x="158710" y="50800"/>
                </a:lnTo>
                <a:lnTo>
                  <a:pt x="155694" y="47943"/>
                </a:lnTo>
                <a:cubicBezTo>
                  <a:pt x="155615" y="47863"/>
                  <a:pt x="155535" y="47784"/>
                  <a:pt x="155456" y="47704"/>
                </a:cubicBezTo>
                <a:cubicBezTo>
                  <a:pt x="125690" y="17939"/>
                  <a:pt x="77470" y="17939"/>
                  <a:pt x="47704" y="47704"/>
                </a:cubicBezTo>
                <a:cubicBezTo>
                  <a:pt x="17939" y="77470"/>
                  <a:pt x="17939" y="125690"/>
                  <a:pt x="47704" y="155456"/>
                </a:cubicBezTo>
                <a:cubicBezTo>
                  <a:pt x="77470" y="185222"/>
                  <a:pt x="125690" y="185222"/>
                  <a:pt x="155456" y="155456"/>
                </a:cubicBezTo>
                <a:cubicBezTo>
                  <a:pt x="158710" y="152202"/>
                  <a:pt x="161607" y="148749"/>
                  <a:pt x="164147" y="145098"/>
                </a:cubicBezTo>
                <a:cubicBezTo>
                  <a:pt x="168156" y="139343"/>
                  <a:pt x="176093" y="137954"/>
                  <a:pt x="181848" y="141962"/>
                </a:cubicBezTo>
                <a:cubicBezTo>
                  <a:pt x="187603" y="145971"/>
                  <a:pt x="188992" y="153908"/>
                  <a:pt x="184983" y="159663"/>
                </a:cubicBezTo>
                <a:cubicBezTo>
                  <a:pt x="181610" y="164505"/>
                  <a:pt x="177760" y="169108"/>
                  <a:pt x="173434" y="173434"/>
                </a:cubicBezTo>
                <a:cubicBezTo>
                  <a:pt x="133747" y="213122"/>
                  <a:pt x="69413" y="213122"/>
                  <a:pt x="29766" y="173434"/>
                </a:cubicBezTo>
                <a:cubicBezTo>
                  <a:pt x="-9882" y="133747"/>
                  <a:pt x="-9922" y="69453"/>
                  <a:pt x="29766" y="29766"/>
                </a:cubicBezTo>
                <a:cubicBezTo>
                  <a:pt x="69413" y="-9882"/>
                  <a:pt x="133628" y="-9922"/>
                  <a:pt x="173315" y="29647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5" name="Text 63"/>
          <p:cNvSpPr/>
          <p:nvPr/>
        </p:nvSpPr>
        <p:spPr>
          <a:xfrm>
            <a:off x="1270000" y="5733002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U09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62000" y="62410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保质期提醒可设置重复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62000" y="66474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满意度：4.0/5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394200" y="54790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394200" y="54790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622800" y="56822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B2C36">
              <a:alpha val="3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724400" y="57838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7430" y="3770"/>
                </a:moveTo>
                <a:cubicBezTo>
                  <a:pt x="78621" y="-2103"/>
                  <a:pt x="83820" y="-6350"/>
                  <a:pt x="89853" y="-6350"/>
                </a:cubicBezTo>
                <a:lnTo>
                  <a:pt x="113586" y="-6350"/>
                </a:lnTo>
                <a:cubicBezTo>
                  <a:pt x="119618" y="-6350"/>
                  <a:pt x="124817" y="-2103"/>
                  <a:pt x="126008" y="3770"/>
                </a:cubicBezTo>
                <a:lnTo>
                  <a:pt x="131763" y="31552"/>
                </a:lnTo>
                <a:cubicBezTo>
                  <a:pt x="137358" y="33933"/>
                  <a:pt x="142597" y="36989"/>
                  <a:pt x="147360" y="40600"/>
                </a:cubicBezTo>
                <a:lnTo>
                  <a:pt x="174268" y="31671"/>
                </a:lnTo>
                <a:cubicBezTo>
                  <a:pt x="179983" y="29766"/>
                  <a:pt x="186253" y="32147"/>
                  <a:pt x="189270" y="37386"/>
                </a:cubicBezTo>
                <a:lnTo>
                  <a:pt x="201136" y="57944"/>
                </a:lnTo>
                <a:cubicBezTo>
                  <a:pt x="204152" y="63182"/>
                  <a:pt x="203081" y="69771"/>
                  <a:pt x="198557" y="73779"/>
                </a:cubicBezTo>
                <a:lnTo>
                  <a:pt x="177403" y="92591"/>
                </a:lnTo>
                <a:cubicBezTo>
                  <a:pt x="177760" y="95528"/>
                  <a:pt x="177919" y="98544"/>
                  <a:pt x="177919" y="101600"/>
                </a:cubicBezTo>
                <a:cubicBezTo>
                  <a:pt x="177919" y="104656"/>
                  <a:pt x="177721" y="107672"/>
                  <a:pt x="177403" y="110609"/>
                </a:cubicBezTo>
                <a:lnTo>
                  <a:pt x="198596" y="129461"/>
                </a:lnTo>
                <a:cubicBezTo>
                  <a:pt x="203121" y="133469"/>
                  <a:pt x="204152" y="140097"/>
                  <a:pt x="201176" y="145296"/>
                </a:cubicBezTo>
                <a:lnTo>
                  <a:pt x="189309" y="165854"/>
                </a:lnTo>
                <a:cubicBezTo>
                  <a:pt x="186293" y="171053"/>
                  <a:pt x="180023" y="173474"/>
                  <a:pt x="174308" y="171569"/>
                </a:cubicBezTo>
                <a:lnTo>
                  <a:pt x="147399" y="162639"/>
                </a:lnTo>
                <a:cubicBezTo>
                  <a:pt x="142597" y="166251"/>
                  <a:pt x="137358" y="169267"/>
                  <a:pt x="131802" y="171688"/>
                </a:cubicBezTo>
                <a:lnTo>
                  <a:pt x="126087" y="199430"/>
                </a:lnTo>
                <a:cubicBezTo>
                  <a:pt x="124857" y="205343"/>
                  <a:pt x="119658" y="209550"/>
                  <a:pt x="113665" y="209550"/>
                </a:cubicBezTo>
                <a:lnTo>
                  <a:pt x="89932" y="209550"/>
                </a:lnTo>
                <a:cubicBezTo>
                  <a:pt x="83899" y="209550"/>
                  <a:pt x="78700" y="205303"/>
                  <a:pt x="77510" y="199430"/>
                </a:cubicBezTo>
                <a:lnTo>
                  <a:pt x="71795" y="171688"/>
                </a:lnTo>
                <a:cubicBezTo>
                  <a:pt x="66199" y="169307"/>
                  <a:pt x="61000" y="166251"/>
                  <a:pt x="56197" y="162639"/>
                </a:cubicBezTo>
                <a:lnTo>
                  <a:pt x="29170" y="171569"/>
                </a:lnTo>
                <a:cubicBezTo>
                  <a:pt x="23455" y="173474"/>
                  <a:pt x="17185" y="171093"/>
                  <a:pt x="14168" y="165854"/>
                </a:cubicBezTo>
                <a:lnTo>
                  <a:pt x="2302" y="145296"/>
                </a:lnTo>
                <a:cubicBezTo>
                  <a:pt x="-714" y="140057"/>
                  <a:pt x="357" y="133469"/>
                  <a:pt x="4882" y="129461"/>
                </a:cubicBezTo>
                <a:lnTo>
                  <a:pt x="26075" y="110609"/>
                </a:lnTo>
                <a:cubicBezTo>
                  <a:pt x="25717" y="107672"/>
                  <a:pt x="25559" y="104656"/>
                  <a:pt x="25559" y="101600"/>
                </a:cubicBezTo>
                <a:cubicBezTo>
                  <a:pt x="25559" y="98544"/>
                  <a:pt x="25757" y="95528"/>
                  <a:pt x="26075" y="92591"/>
                </a:cubicBezTo>
                <a:lnTo>
                  <a:pt x="4882" y="73739"/>
                </a:lnTo>
                <a:cubicBezTo>
                  <a:pt x="357" y="69731"/>
                  <a:pt x="-675" y="63103"/>
                  <a:pt x="2302" y="57904"/>
                </a:cubicBezTo>
                <a:lnTo>
                  <a:pt x="14168" y="37346"/>
                </a:lnTo>
                <a:cubicBezTo>
                  <a:pt x="17185" y="32107"/>
                  <a:pt x="23455" y="29726"/>
                  <a:pt x="29170" y="31631"/>
                </a:cubicBezTo>
                <a:lnTo>
                  <a:pt x="56078" y="40561"/>
                </a:lnTo>
                <a:cubicBezTo>
                  <a:pt x="60881" y="36949"/>
                  <a:pt x="66119" y="33933"/>
                  <a:pt x="71676" y="31512"/>
                </a:cubicBezTo>
                <a:lnTo>
                  <a:pt x="77430" y="3770"/>
                </a:lnTo>
                <a:close/>
                <a:moveTo>
                  <a:pt x="101719" y="133350"/>
                </a:moveTo>
                <a:cubicBezTo>
                  <a:pt x="113062" y="133307"/>
                  <a:pt x="123521" y="127217"/>
                  <a:pt x="129156" y="117372"/>
                </a:cubicBezTo>
                <a:cubicBezTo>
                  <a:pt x="134791" y="107527"/>
                  <a:pt x="134745" y="95424"/>
                  <a:pt x="129037" y="85622"/>
                </a:cubicBezTo>
                <a:cubicBezTo>
                  <a:pt x="123328" y="75820"/>
                  <a:pt x="112824" y="69807"/>
                  <a:pt x="101481" y="69850"/>
                </a:cubicBezTo>
                <a:cubicBezTo>
                  <a:pt x="90138" y="69893"/>
                  <a:pt x="79679" y="75983"/>
                  <a:pt x="74044" y="85828"/>
                </a:cubicBezTo>
                <a:cubicBezTo>
                  <a:pt x="68409" y="95673"/>
                  <a:pt x="68455" y="107776"/>
                  <a:pt x="74163" y="117578"/>
                </a:cubicBezTo>
                <a:cubicBezTo>
                  <a:pt x="79872" y="127380"/>
                  <a:pt x="90376" y="133393"/>
                  <a:pt x="101719" y="1333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72" name="Text 70"/>
          <p:cNvSpPr/>
          <p:nvPr/>
        </p:nvSpPr>
        <p:spPr>
          <a:xfrm>
            <a:off x="5130800" y="5733002"/>
            <a:ext cx="45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U10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4622800" y="62410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录入页字段可自定义隐藏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622800" y="66474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满意度：3.7/5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55000" y="54790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255000" y="54790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77" name="Shape 75"/>
          <p:cNvSpPr/>
          <p:nvPr/>
        </p:nvSpPr>
        <p:spPr>
          <a:xfrm>
            <a:off x="8483600" y="56822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585200" y="57838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79" name="Text 77"/>
          <p:cNvSpPr/>
          <p:nvPr/>
        </p:nvSpPr>
        <p:spPr>
          <a:xfrm>
            <a:off x="8991600" y="5733002"/>
            <a:ext cx="40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U11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483600" y="62410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膳食规划添加营养分析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483600" y="66474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满意度：4.3/5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2115800" y="5479002"/>
            <a:ext cx="3632200" cy="1625600"/>
          </a:xfrm>
          <a:custGeom>
            <a:avLst/>
            <a:gdLst/>
            <a:ahLst/>
            <a:cxnLst/>
            <a:rect l="l" t="t" r="r" b="b"/>
            <a:pathLst>
              <a:path w="3632200" h="1625600">
                <a:moveTo>
                  <a:pt x="50800" y="0"/>
                </a:moveTo>
                <a:lnTo>
                  <a:pt x="3479800" y="0"/>
                </a:lnTo>
                <a:cubicBezTo>
                  <a:pt x="3563912" y="0"/>
                  <a:pt x="3632200" y="68288"/>
                  <a:pt x="3632200" y="152400"/>
                </a:cubicBezTo>
                <a:lnTo>
                  <a:pt x="3632200" y="1473200"/>
                </a:lnTo>
                <a:cubicBezTo>
                  <a:pt x="3632200" y="1557312"/>
                  <a:pt x="3563912" y="1625600"/>
                  <a:pt x="34798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2115800" y="5479002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84" name="Shape 82"/>
          <p:cNvSpPr/>
          <p:nvPr/>
        </p:nvSpPr>
        <p:spPr>
          <a:xfrm>
            <a:off x="12344400" y="568220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2458700" y="5783802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115185" y="98425"/>
                  <a:pt x="136525" y="77085"/>
                  <a:pt x="136525" y="50800"/>
                </a:cubicBezTo>
                <a:cubicBezTo>
                  <a:pt x="136525" y="24515"/>
                  <a:pt x="115185" y="3175"/>
                  <a:pt x="88900" y="3175"/>
                </a:cubicBezTo>
                <a:cubicBezTo>
                  <a:pt x="62615" y="3175"/>
                  <a:pt x="41275" y="24515"/>
                  <a:pt x="41275" y="50800"/>
                </a:cubicBezTo>
                <a:cubicBezTo>
                  <a:pt x="41275" y="77085"/>
                  <a:pt x="62615" y="98425"/>
                  <a:pt x="88900" y="98425"/>
                </a:cubicBezTo>
                <a:close/>
                <a:moveTo>
                  <a:pt x="77113" y="120650"/>
                </a:moveTo>
                <a:cubicBezTo>
                  <a:pt x="38021" y="120650"/>
                  <a:pt x="6350" y="152321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52321"/>
                  <a:pt x="139779" y="120650"/>
                  <a:pt x="100687" y="120650"/>
                </a:cubicBezTo>
                <a:lnTo>
                  <a:pt x="77113" y="12065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86" name="Text 84"/>
          <p:cNvSpPr/>
          <p:nvPr/>
        </p:nvSpPr>
        <p:spPr>
          <a:xfrm>
            <a:off x="12852400" y="5733002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U12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2344400" y="6241002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登录支持第三方账号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2344400" y="6647402"/>
            <a:ext cx="328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满意度：4.1/5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533400" y="7307802"/>
            <a:ext cx="15214600" cy="1295400"/>
          </a:xfrm>
          <a:custGeom>
            <a:avLst/>
            <a:gdLst/>
            <a:ahLst/>
            <a:cxnLst/>
            <a:rect l="l" t="t" r="r" b="b"/>
            <a:pathLst>
              <a:path w="15214600" h="1295400">
                <a:moveTo>
                  <a:pt x="50800" y="0"/>
                </a:moveTo>
                <a:lnTo>
                  <a:pt x="15062196" y="0"/>
                </a:lnTo>
                <a:cubicBezTo>
                  <a:pt x="15146366" y="0"/>
                  <a:pt x="15214600" y="68234"/>
                  <a:pt x="15214600" y="152404"/>
                </a:cubicBezTo>
                <a:lnTo>
                  <a:pt x="15214600" y="1142996"/>
                </a:lnTo>
                <a:cubicBezTo>
                  <a:pt x="15214600" y="1227166"/>
                  <a:pt x="15146366" y="1295400"/>
                  <a:pt x="15062196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>
              <a:alpha val="1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533400" y="7307802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91" name="Shape 89"/>
          <p:cNvSpPr/>
          <p:nvPr/>
        </p:nvSpPr>
        <p:spPr>
          <a:xfrm>
            <a:off x="889000" y="7612602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92" name="Text 90"/>
          <p:cNvSpPr/>
          <p:nvPr/>
        </p:nvSpPr>
        <p:spPr>
          <a:xfrm>
            <a:off x="1346200" y="7561802"/>
            <a:ext cx="1189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创新功能建议汇总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1346200" y="8019002"/>
            <a:ext cx="11887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用户提出的</a:t>
            </a:r>
            <a:r>
              <a:rPr lang="en-US" sz="1600" b="1" dirty="0">
                <a:solidFill>
                  <a:srgbClr val="F0F2F5">
                    <a:alpha val="8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拍照识别、营养分析、过期提醒 </a:t>
            </a:r>
            <a:r>
              <a:rPr lang="en-US" sz="1600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等创新性功能建议，可作为产品差异化竞争的重要方向，在后续版本中逐步规划实现。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9573" y="589154"/>
            <a:ext cx="15551406" cy="60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55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用户满意度分布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9573" y="1344077"/>
            <a:ext cx="1207876" cy="50328"/>
          </a:xfrm>
          <a:custGeom>
            <a:avLst/>
            <a:gdLst/>
            <a:ahLst/>
            <a:cxnLst/>
            <a:rect l="l" t="t" r="r" b="b"/>
            <a:pathLst>
              <a:path w="1207876" h="50328">
                <a:moveTo>
                  <a:pt x="0" y="0"/>
                </a:moveTo>
                <a:lnTo>
                  <a:pt x="1207876" y="0"/>
                </a:lnTo>
                <a:lnTo>
                  <a:pt x="1207876" y="50328"/>
                </a:lnTo>
                <a:lnTo>
                  <a:pt x="0" y="50328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" name="Shape 3"/>
          <p:cNvSpPr/>
          <p:nvPr/>
        </p:nvSpPr>
        <p:spPr>
          <a:xfrm>
            <a:off x="515864" y="1602009"/>
            <a:ext cx="4906997" cy="7222093"/>
          </a:xfrm>
          <a:custGeom>
            <a:avLst/>
            <a:gdLst/>
            <a:ahLst/>
            <a:cxnLst/>
            <a:rect l="l" t="t" r="r" b="b"/>
            <a:pathLst>
              <a:path w="4906997" h="7222093">
                <a:moveTo>
                  <a:pt x="150988" y="0"/>
                </a:moveTo>
                <a:lnTo>
                  <a:pt x="4756009" y="0"/>
                </a:lnTo>
                <a:cubicBezTo>
                  <a:pt x="4839397" y="0"/>
                  <a:pt x="4906997" y="67600"/>
                  <a:pt x="4906997" y="150988"/>
                </a:cubicBezTo>
                <a:lnTo>
                  <a:pt x="4906997" y="7071105"/>
                </a:lnTo>
                <a:cubicBezTo>
                  <a:pt x="4906997" y="7154493"/>
                  <a:pt x="4839397" y="7222093"/>
                  <a:pt x="4756009" y="7222093"/>
                </a:cubicBezTo>
                <a:lnTo>
                  <a:pt x="150988" y="7222093"/>
                </a:lnTo>
                <a:cubicBezTo>
                  <a:pt x="67600" y="7222093"/>
                  <a:pt x="0" y="7154493"/>
                  <a:pt x="0" y="7071105"/>
                </a:cubicBezTo>
                <a:lnTo>
                  <a:pt x="0" y="150988"/>
                </a:lnTo>
                <a:cubicBezTo>
                  <a:pt x="0" y="67656"/>
                  <a:pt x="67656" y="0"/>
                  <a:pt x="150988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579" y="1960597"/>
            <a:ext cx="251641" cy="251641"/>
          </a:xfrm>
          <a:custGeom>
            <a:avLst/>
            <a:gdLst/>
            <a:ahLst/>
            <a:cxnLst/>
            <a:rect l="l" t="t" r="r" b="b"/>
            <a:pathLst>
              <a:path w="251641" h="251641">
                <a:moveTo>
                  <a:pt x="15728" y="15728"/>
                </a:moveTo>
                <a:cubicBezTo>
                  <a:pt x="24427" y="15728"/>
                  <a:pt x="31455" y="22756"/>
                  <a:pt x="31455" y="31455"/>
                </a:cubicBezTo>
                <a:lnTo>
                  <a:pt x="31455" y="196594"/>
                </a:lnTo>
                <a:cubicBezTo>
                  <a:pt x="31455" y="200920"/>
                  <a:pt x="34994" y="204458"/>
                  <a:pt x="39319" y="204458"/>
                </a:cubicBezTo>
                <a:lnTo>
                  <a:pt x="235913" y="204458"/>
                </a:lnTo>
                <a:cubicBezTo>
                  <a:pt x="244613" y="204458"/>
                  <a:pt x="251641" y="211486"/>
                  <a:pt x="251641" y="220186"/>
                </a:cubicBezTo>
                <a:cubicBezTo>
                  <a:pt x="251641" y="228885"/>
                  <a:pt x="244613" y="235913"/>
                  <a:pt x="235913" y="235913"/>
                </a:cubicBezTo>
                <a:lnTo>
                  <a:pt x="39319" y="235913"/>
                </a:lnTo>
                <a:cubicBezTo>
                  <a:pt x="17595" y="235913"/>
                  <a:pt x="0" y="218318"/>
                  <a:pt x="0" y="196594"/>
                </a:cubicBezTo>
                <a:lnTo>
                  <a:pt x="0" y="31455"/>
                </a:lnTo>
                <a:cubicBezTo>
                  <a:pt x="0" y="22756"/>
                  <a:pt x="7028" y="15728"/>
                  <a:pt x="15728" y="15728"/>
                </a:cubicBezTo>
                <a:close/>
                <a:moveTo>
                  <a:pt x="62910" y="47183"/>
                </a:moveTo>
                <a:cubicBezTo>
                  <a:pt x="62910" y="38483"/>
                  <a:pt x="69938" y="31455"/>
                  <a:pt x="78638" y="31455"/>
                </a:cubicBezTo>
                <a:lnTo>
                  <a:pt x="173003" y="31455"/>
                </a:lnTo>
                <a:cubicBezTo>
                  <a:pt x="181702" y="31455"/>
                  <a:pt x="188731" y="38483"/>
                  <a:pt x="188731" y="47183"/>
                </a:cubicBezTo>
                <a:cubicBezTo>
                  <a:pt x="188731" y="55882"/>
                  <a:pt x="181702" y="62910"/>
                  <a:pt x="173003" y="62910"/>
                </a:cubicBezTo>
                <a:lnTo>
                  <a:pt x="78638" y="62910"/>
                </a:lnTo>
                <a:cubicBezTo>
                  <a:pt x="69938" y="62910"/>
                  <a:pt x="62910" y="55882"/>
                  <a:pt x="62910" y="47183"/>
                </a:cubicBezTo>
                <a:close/>
                <a:moveTo>
                  <a:pt x="78638" y="86502"/>
                </a:moveTo>
                <a:lnTo>
                  <a:pt x="141548" y="86502"/>
                </a:lnTo>
                <a:cubicBezTo>
                  <a:pt x="150247" y="86502"/>
                  <a:pt x="157276" y="93530"/>
                  <a:pt x="157276" y="102229"/>
                </a:cubicBezTo>
                <a:cubicBezTo>
                  <a:pt x="157276" y="110928"/>
                  <a:pt x="150247" y="117957"/>
                  <a:pt x="141548" y="117957"/>
                </a:cubicBezTo>
                <a:lnTo>
                  <a:pt x="78638" y="117957"/>
                </a:lnTo>
                <a:cubicBezTo>
                  <a:pt x="69938" y="117957"/>
                  <a:pt x="62910" y="110928"/>
                  <a:pt x="62910" y="102229"/>
                </a:cubicBezTo>
                <a:cubicBezTo>
                  <a:pt x="62910" y="93530"/>
                  <a:pt x="69938" y="86502"/>
                  <a:pt x="78638" y="86502"/>
                </a:cubicBezTo>
                <a:close/>
                <a:moveTo>
                  <a:pt x="78638" y="141548"/>
                </a:moveTo>
                <a:lnTo>
                  <a:pt x="204458" y="141548"/>
                </a:lnTo>
                <a:cubicBezTo>
                  <a:pt x="213158" y="141548"/>
                  <a:pt x="220186" y="148576"/>
                  <a:pt x="220186" y="157276"/>
                </a:cubicBezTo>
                <a:cubicBezTo>
                  <a:pt x="220186" y="165975"/>
                  <a:pt x="213158" y="173003"/>
                  <a:pt x="204458" y="173003"/>
                </a:cubicBezTo>
                <a:lnTo>
                  <a:pt x="78638" y="173003"/>
                </a:lnTo>
                <a:cubicBezTo>
                  <a:pt x="69938" y="173003"/>
                  <a:pt x="62910" y="165975"/>
                  <a:pt x="62910" y="157276"/>
                </a:cubicBezTo>
                <a:cubicBezTo>
                  <a:pt x="62910" y="148576"/>
                  <a:pt x="69938" y="141548"/>
                  <a:pt x="78638" y="141548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7" name="Text 5"/>
          <p:cNvSpPr/>
          <p:nvPr/>
        </p:nvSpPr>
        <p:spPr>
          <a:xfrm>
            <a:off x="1138675" y="1910269"/>
            <a:ext cx="4101746" cy="35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1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满意度评分分布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84724" y="1602009"/>
            <a:ext cx="10078217" cy="7222093"/>
          </a:xfrm>
          <a:custGeom>
            <a:avLst/>
            <a:gdLst/>
            <a:ahLst/>
            <a:cxnLst/>
            <a:rect l="l" t="t" r="r" b="b"/>
            <a:pathLst>
              <a:path w="10078217" h="7222093">
                <a:moveTo>
                  <a:pt x="151014" y="0"/>
                </a:moveTo>
                <a:lnTo>
                  <a:pt x="9927203" y="0"/>
                </a:lnTo>
                <a:cubicBezTo>
                  <a:pt x="10010605" y="0"/>
                  <a:pt x="10078217" y="67611"/>
                  <a:pt x="10078217" y="151014"/>
                </a:cubicBezTo>
                <a:lnTo>
                  <a:pt x="10078217" y="7071079"/>
                </a:lnTo>
                <a:cubicBezTo>
                  <a:pt x="10078217" y="7154482"/>
                  <a:pt x="10010605" y="7222093"/>
                  <a:pt x="9927203" y="7222093"/>
                </a:cubicBezTo>
                <a:lnTo>
                  <a:pt x="151014" y="7222093"/>
                </a:lnTo>
                <a:cubicBezTo>
                  <a:pt x="67611" y="7222093"/>
                  <a:pt x="0" y="7154482"/>
                  <a:pt x="0" y="7071079"/>
                </a:cubicBezTo>
                <a:lnTo>
                  <a:pt x="0" y="151014"/>
                </a:lnTo>
                <a:cubicBezTo>
                  <a:pt x="0" y="67667"/>
                  <a:pt x="67667" y="0"/>
                  <a:pt x="151014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 w="1270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89839" y="1910269"/>
            <a:ext cx="220186" cy="251641"/>
          </a:xfrm>
          <a:custGeom>
            <a:avLst/>
            <a:gdLst/>
            <a:ahLst/>
            <a:cxnLst/>
            <a:rect l="l" t="t" r="r" b="b"/>
            <a:pathLst>
              <a:path w="220186" h="251641">
                <a:moveTo>
                  <a:pt x="125820" y="78638"/>
                </a:moveTo>
                <a:lnTo>
                  <a:pt x="125820" y="125820"/>
                </a:lnTo>
                <a:lnTo>
                  <a:pt x="188731" y="125820"/>
                </a:lnTo>
                <a:lnTo>
                  <a:pt x="188731" y="78638"/>
                </a:lnTo>
                <a:lnTo>
                  <a:pt x="125820" y="78638"/>
                </a:lnTo>
                <a:close/>
                <a:moveTo>
                  <a:pt x="94365" y="78638"/>
                </a:moveTo>
                <a:lnTo>
                  <a:pt x="31455" y="78638"/>
                </a:lnTo>
                <a:lnTo>
                  <a:pt x="31455" y="125820"/>
                </a:lnTo>
                <a:lnTo>
                  <a:pt x="94365" y="125820"/>
                </a:lnTo>
                <a:lnTo>
                  <a:pt x="94365" y="78638"/>
                </a:lnTo>
                <a:close/>
                <a:moveTo>
                  <a:pt x="0" y="157276"/>
                </a:moveTo>
                <a:lnTo>
                  <a:pt x="0" y="47183"/>
                </a:lnTo>
                <a:cubicBezTo>
                  <a:pt x="0" y="29833"/>
                  <a:pt x="14106" y="15728"/>
                  <a:pt x="31455" y="15728"/>
                </a:cubicBezTo>
                <a:lnTo>
                  <a:pt x="188731" y="15728"/>
                </a:lnTo>
                <a:cubicBezTo>
                  <a:pt x="206080" y="15728"/>
                  <a:pt x="220186" y="29833"/>
                  <a:pt x="220186" y="47183"/>
                </a:cubicBezTo>
                <a:lnTo>
                  <a:pt x="220186" y="204458"/>
                </a:lnTo>
                <a:cubicBezTo>
                  <a:pt x="220186" y="221808"/>
                  <a:pt x="206080" y="235913"/>
                  <a:pt x="188731" y="235913"/>
                </a:cubicBezTo>
                <a:lnTo>
                  <a:pt x="31455" y="235913"/>
                </a:lnTo>
                <a:cubicBezTo>
                  <a:pt x="14106" y="235913"/>
                  <a:pt x="0" y="221808"/>
                  <a:pt x="0" y="204458"/>
                </a:cubicBezTo>
                <a:lnTo>
                  <a:pt x="0" y="157276"/>
                </a:lnTo>
                <a:close/>
                <a:moveTo>
                  <a:pt x="188731" y="157276"/>
                </a:moveTo>
                <a:lnTo>
                  <a:pt x="125820" y="157276"/>
                </a:lnTo>
                <a:lnTo>
                  <a:pt x="125820" y="204458"/>
                </a:lnTo>
                <a:lnTo>
                  <a:pt x="188731" y="204458"/>
                </a:lnTo>
                <a:lnTo>
                  <a:pt x="188731" y="157276"/>
                </a:lnTo>
                <a:close/>
                <a:moveTo>
                  <a:pt x="94365" y="204458"/>
                </a:moveTo>
                <a:lnTo>
                  <a:pt x="94365" y="157276"/>
                </a:lnTo>
                <a:lnTo>
                  <a:pt x="31455" y="157276"/>
                </a:lnTo>
                <a:lnTo>
                  <a:pt x="31455" y="204458"/>
                </a:lnTo>
                <a:lnTo>
                  <a:pt x="94365" y="204458"/>
                </a:ln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1" name="Text 8"/>
          <p:cNvSpPr/>
          <p:nvPr/>
        </p:nvSpPr>
        <p:spPr>
          <a:xfrm>
            <a:off x="6257207" y="1859940"/>
            <a:ext cx="9373622" cy="352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1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12名用户详细反馈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59151"/>
              </p:ext>
            </p:extLst>
          </p:nvPr>
        </p:nvGraphicFramePr>
        <p:xfrm>
          <a:off x="5942656" y="2413550"/>
          <a:ext cx="9562352" cy="6152614"/>
        </p:xfrm>
        <a:graphic>
          <a:graphicData uri="http://schemas.openxmlformats.org/drawingml/2006/table">
            <a:tbl>
              <a:tblPr/>
              <a:tblGrid>
                <a:gridCol w="105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48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327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常用机型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任务完成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满意度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主要建议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华为 P40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录入时可拍照识别食材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小米 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4/5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C80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库存页增加分类筛选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三星 S20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膳食规划可导出清单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OPPO Reno 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C80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希望添加食材过期提醒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vivo X60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3/5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日历页面操作太复杂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荣耀 50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支持批量导入食材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一加 9R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4/5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C80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滑动删除需二次确认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谷歌 Pixel 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界面简洁，无需过多修改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U09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华为 Mate 40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4/5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C80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保质期提醒可设置重复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U10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小米 11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3/5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F646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录入页字段可自定义隐藏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U11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三星 S21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全部完成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7DAA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膳食规划添加营养分析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3278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U12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OPPO Find X3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 4/5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3C808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0F2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登录支持第三方账号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9F7AC207-4D93-87A1-470B-315F00E76161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75" t="10939" r="35834" b="11522"/>
          <a:stretch>
            <a:fillRect/>
          </a:stretch>
        </p:blipFill>
        <p:spPr>
          <a:xfrm>
            <a:off x="981399" y="2890665"/>
            <a:ext cx="3702976" cy="365766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3160573-DFB2-E589-45BF-0BFE3ADA27F0}"/>
              </a:ext>
            </a:extLst>
          </p:cNvPr>
          <p:cNvPicPr>
            <a:picLocks/>
          </p:cNvPicPr>
          <p:nvPr/>
        </p:nvPicPr>
        <p:blipFill>
          <a:blip r:embed="rId4"/>
          <a:srcRect l="64165" t="40000" r="8875" b="41554"/>
          <a:stretch>
            <a:fillRect/>
          </a:stretch>
        </p:blipFill>
        <p:spPr>
          <a:xfrm>
            <a:off x="1800668" y="6903010"/>
            <a:ext cx="2064438" cy="103362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C6B95-68A4-AA7A-2071-6417E01A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>
            <a:extLst>
              <a:ext uri="{FF2B5EF4-FFF2-40B4-BE49-F238E27FC236}">
                <a16:creationId xmlns:a16="http://schemas.microsoft.com/office/drawing/2014/main" id="{C1D8D5C2-3C88-4AE5-D23D-53EC683FE2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EA8ABE9-9589-5F0A-1D63-F26DB86254A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B23B92-3F08-5083-2CA6-2CCD66C3443A}"/>
              </a:ext>
            </a:extLst>
          </p:cNvPr>
          <p:cNvSpPr/>
          <p:nvPr/>
        </p:nvSpPr>
        <p:spPr>
          <a:xfrm>
            <a:off x="5324320" y="2641600"/>
            <a:ext cx="560735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PART FOUR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03F636A-577E-E639-001C-5F1966505756}"/>
              </a:ext>
            </a:extLst>
          </p:cNvPr>
          <p:cNvSpPr/>
          <p:nvPr/>
        </p:nvSpPr>
        <p:spPr>
          <a:xfrm>
            <a:off x="6113756" y="4450857"/>
            <a:ext cx="402848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zh-CN" altLang="en-US" sz="4800" b="1" dirty="0">
                <a:solidFill>
                  <a:srgbClr val="7DAA92"/>
                </a:solidFill>
                <a:latin typeface="阿里妈妈数黑体" pitchFamily="34" charset="0"/>
                <a:ea typeface="阿里妈妈数黑体" pitchFamily="34" charset="-122"/>
              </a:rPr>
              <a:t>总结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879794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ce3a50744f6557007374bd289175a184219270b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909" r="90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292646">
                <a:moveTo>
                  <a:pt x="0" y="0"/>
                </a:moveTo>
                <a:lnTo>
                  <a:pt x="16256000" y="0"/>
                </a:lnTo>
                <a:lnTo>
                  <a:pt x="16256000" y="9292646"/>
                </a:lnTo>
                <a:lnTo>
                  <a:pt x="0" y="929264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C8082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490377" y="606459"/>
            <a:ext cx="15569472" cy="58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33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总结与行动方向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0377" y="1391062"/>
            <a:ext cx="1569207" cy="73557"/>
          </a:xfrm>
          <a:custGeom>
            <a:avLst/>
            <a:gdLst/>
            <a:ahLst/>
            <a:cxnLst/>
            <a:rect l="l" t="t" r="r" b="b"/>
            <a:pathLst>
              <a:path w="1569207" h="73557">
                <a:moveTo>
                  <a:pt x="0" y="0"/>
                </a:moveTo>
                <a:lnTo>
                  <a:pt x="1569207" y="0"/>
                </a:lnTo>
                <a:lnTo>
                  <a:pt x="1569207" y="73557"/>
                </a:lnTo>
                <a:lnTo>
                  <a:pt x="0" y="735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C8082"/>
              </a:gs>
              <a:gs pos="100000">
                <a:srgbClr val="7DAA92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514896" y="1758845"/>
            <a:ext cx="15250727" cy="1753098"/>
          </a:xfrm>
          <a:custGeom>
            <a:avLst/>
            <a:gdLst/>
            <a:ahLst/>
            <a:cxnLst/>
            <a:rect l="l" t="t" r="r" b="b"/>
            <a:pathLst>
              <a:path w="15250727" h="1753098">
                <a:moveTo>
                  <a:pt x="49038" y="0"/>
                </a:moveTo>
                <a:lnTo>
                  <a:pt x="15103607" y="0"/>
                </a:lnTo>
                <a:cubicBezTo>
                  <a:pt x="15184859" y="0"/>
                  <a:pt x="15250727" y="65868"/>
                  <a:pt x="15250727" y="147120"/>
                </a:cubicBezTo>
                <a:lnTo>
                  <a:pt x="15250727" y="1605978"/>
                </a:lnTo>
                <a:cubicBezTo>
                  <a:pt x="15250727" y="1687230"/>
                  <a:pt x="15184859" y="1753098"/>
                  <a:pt x="15103607" y="1753098"/>
                </a:cubicBezTo>
                <a:lnTo>
                  <a:pt x="49038" y="1753098"/>
                </a:lnTo>
                <a:cubicBezTo>
                  <a:pt x="21955" y="1753098"/>
                  <a:pt x="0" y="1731143"/>
                  <a:pt x="0" y="1704060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14896" y="1758845"/>
            <a:ext cx="49038" cy="1753098"/>
          </a:xfrm>
          <a:custGeom>
            <a:avLst/>
            <a:gdLst/>
            <a:ahLst/>
            <a:cxnLst/>
            <a:rect l="l" t="t" r="r" b="b"/>
            <a:pathLst>
              <a:path w="49038" h="1753098">
                <a:moveTo>
                  <a:pt x="49038" y="0"/>
                </a:moveTo>
                <a:lnTo>
                  <a:pt x="49038" y="0"/>
                </a:lnTo>
                <a:lnTo>
                  <a:pt x="49038" y="1753098"/>
                </a:lnTo>
                <a:lnTo>
                  <a:pt x="49038" y="1753098"/>
                </a:lnTo>
                <a:cubicBezTo>
                  <a:pt x="21955" y="1753098"/>
                  <a:pt x="0" y="1731143"/>
                  <a:pt x="0" y="1704060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0" name="Shape 7"/>
          <p:cNvSpPr/>
          <p:nvPr/>
        </p:nvSpPr>
        <p:spPr>
          <a:xfrm>
            <a:off x="784603" y="2004033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147113" y="0"/>
                </a:moveTo>
                <a:lnTo>
                  <a:pt x="441339" y="0"/>
                </a:lnTo>
                <a:cubicBezTo>
                  <a:pt x="522533" y="0"/>
                  <a:pt x="588452" y="65919"/>
                  <a:pt x="588452" y="147113"/>
                </a:cubicBezTo>
                <a:lnTo>
                  <a:pt x="588452" y="441339"/>
                </a:lnTo>
                <a:cubicBezTo>
                  <a:pt x="588452" y="522588"/>
                  <a:pt x="522588" y="588452"/>
                  <a:pt x="441339" y="588452"/>
                </a:cubicBezTo>
                <a:lnTo>
                  <a:pt x="147113" y="588452"/>
                </a:lnTo>
                <a:cubicBezTo>
                  <a:pt x="65865" y="588452"/>
                  <a:pt x="0" y="522588"/>
                  <a:pt x="0" y="441339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31716" y="2151147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294226"/>
                </a:moveTo>
                <a:cubicBezTo>
                  <a:pt x="228307" y="294226"/>
                  <a:pt x="294226" y="228307"/>
                  <a:pt x="294226" y="147113"/>
                </a:cubicBezTo>
                <a:cubicBezTo>
                  <a:pt x="294226" y="65919"/>
                  <a:pt x="228307" y="0"/>
                  <a:pt x="147113" y="0"/>
                </a:cubicBezTo>
                <a:cubicBezTo>
                  <a:pt x="65919" y="0"/>
                  <a:pt x="0" y="65919"/>
                  <a:pt x="0" y="147113"/>
                </a:cubicBezTo>
                <a:cubicBezTo>
                  <a:pt x="0" y="228307"/>
                  <a:pt x="65919" y="294226"/>
                  <a:pt x="147113" y="294226"/>
                </a:cubicBezTo>
                <a:close/>
                <a:moveTo>
                  <a:pt x="195614" y="122230"/>
                </a:moveTo>
                <a:lnTo>
                  <a:pt x="149642" y="195787"/>
                </a:lnTo>
                <a:cubicBezTo>
                  <a:pt x="147228" y="199637"/>
                  <a:pt x="143090" y="202051"/>
                  <a:pt x="138551" y="202281"/>
                </a:cubicBezTo>
                <a:cubicBezTo>
                  <a:pt x="134011" y="202510"/>
                  <a:pt x="129643" y="200442"/>
                  <a:pt x="126943" y="196764"/>
                </a:cubicBezTo>
                <a:lnTo>
                  <a:pt x="99359" y="159986"/>
                </a:lnTo>
                <a:cubicBezTo>
                  <a:pt x="94762" y="153894"/>
                  <a:pt x="96026" y="145274"/>
                  <a:pt x="102117" y="140677"/>
                </a:cubicBezTo>
                <a:cubicBezTo>
                  <a:pt x="108209" y="136080"/>
                  <a:pt x="116829" y="137344"/>
                  <a:pt x="121426" y="143435"/>
                </a:cubicBezTo>
                <a:lnTo>
                  <a:pt x="136942" y="164123"/>
                </a:lnTo>
                <a:lnTo>
                  <a:pt x="172226" y="107634"/>
                </a:lnTo>
                <a:cubicBezTo>
                  <a:pt x="176248" y="101198"/>
                  <a:pt x="184753" y="99186"/>
                  <a:pt x="191247" y="103267"/>
                </a:cubicBezTo>
                <a:cubicBezTo>
                  <a:pt x="197741" y="107347"/>
                  <a:pt x="199695" y="115794"/>
                  <a:pt x="195614" y="122288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2" name="Text 9"/>
          <p:cNvSpPr/>
          <p:nvPr/>
        </p:nvSpPr>
        <p:spPr>
          <a:xfrm>
            <a:off x="1569207" y="2004033"/>
            <a:ext cx="14098341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69207" y="2543448"/>
            <a:ext cx="14061563" cy="7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8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KitchenPal在Android平台</a:t>
            </a:r>
            <a:r>
              <a:rPr lang="en-US" sz="1738" b="1" dirty="0">
                <a:solidFill>
                  <a:srgbClr val="F0F2F5">
                    <a:alpha val="80000"/>
                  </a:srgbClr>
                </a:solidFill>
                <a:highlight>
                  <a:srgbClr val="7DAA9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兼容性良好 </a:t>
            </a:r>
            <a:r>
              <a:rPr lang="en-US" sz="1738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，8款机型全部通过测试，未出现崩溃、安装失败等致命问题。UI设计清晰、视觉友好，核心功能流程基本通畅，具备上线的基础条件。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4896" y="3751002"/>
            <a:ext cx="15250727" cy="1385315"/>
          </a:xfrm>
          <a:custGeom>
            <a:avLst/>
            <a:gdLst/>
            <a:ahLst/>
            <a:cxnLst/>
            <a:rect l="l" t="t" r="r" b="b"/>
            <a:pathLst>
              <a:path w="15250727" h="1385315">
                <a:moveTo>
                  <a:pt x="49038" y="0"/>
                </a:moveTo>
                <a:lnTo>
                  <a:pt x="15103620" y="0"/>
                </a:lnTo>
                <a:cubicBezTo>
                  <a:pt x="15184865" y="0"/>
                  <a:pt x="15250727" y="65862"/>
                  <a:pt x="15250727" y="147107"/>
                </a:cubicBezTo>
                <a:lnTo>
                  <a:pt x="15250727" y="1238209"/>
                </a:lnTo>
                <a:cubicBezTo>
                  <a:pt x="15250727" y="1319453"/>
                  <a:pt x="15184865" y="1385315"/>
                  <a:pt x="15103620" y="1385315"/>
                </a:cubicBezTo>
                <a:lnTo>
                  <a:pt x="49038" y="1385315"/>
                </a:lnTo>
                <a:cubicBezTo>
                  <a:pt x="21955" y="1385315"/>
                  <a:pt x="0" y="1363360"/>
                  <a:pt x="0" y="13362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14896" y="3751002"/>
            <a:ext cx="49038" cy="1385315"/>
          </a:xfrm>
          <a:custGeom>
            <a:avLst/>
            <a:gdLst/>
            <a:ahLst/>
            <a:cxnLst/>
            <a:rect l="l" t="t" r="r" b="b"/>
            <a:pathLst>
              <a:path w="49038" h="1385315">
                <a:moveTo>
                  <a:pt x="49038" y="0"/>
                </a:moveTo>
                <a:lnTo>
                  <a:pt x="49038" y="0"/>
                </a:lnTo>
                <a:lnTo>
                  <a:pt x="49038" y="1385315"/>
                </a:lnTo>
                <a:lnTo>
                  <a:pt x="49038" y="1385315"/>
                </a:lnTo>
                <a:cubicBezTo>
                  <a:pt x="21955" y="1385315"/>
                  <a:pt x="0" y="1363360"/>
                  <a:pt x="0" y="13362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6" name="Shape 13"/>
          <p:cNvSpPr/>
          <p:nvPr/>
        </p:nvSpPr>
        <p:spPr>
          <a:xfrm>
            <a:off x="784603" y="3996190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147113" y="0"/>
                </a:moveTo>
                <a:lnTo>
                  <a:pt x="441339" y="0"/>
                </a:lnTo>
                <a:cubicBezTo>
                  <a:pt x="522533" y="0"/>
                  <a:pt x="588452" y="65919"/>
                  <a:pt x="588452" y="147113"/>
                </a:cubicBezTo>
                <a:lnTo>
                  <a:pt x="588452" y="441339"/>
                </a:lnTo>
                <a:cubicBezTo>
                  <a:pt x="588452" y="522588"/>
                  <a:pt x="522588" y="588452"/>
                  <a:pt x="441339" y="588452"/>
                </a:cubicBezTo>
                <a:lnTo>
                  <a:pt x="147113" y="588452"/>
                </a:lnTo>
                <a:cubicBezTo>
                  <a:pt x="65865" y="588452"/>
                  <a:pt x="0" y="522588"/>
                  <a:pt x="0" y="441339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31716" y="4143303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257448" y="147113"/>
                </a:moveTo>
                <a:cubicBezTo>
                  <a:pt x="257448" y="86218"/>
                  <a:pt x="208009" y="36778"/>
                  <a:pt x="147113" y="36778"/>
                </a:cubicBezTo>
                <a:cubicBezTo>
                  <a:pt x="86218" y="36778"/>
                  <a:pt x="36778" y="86218"/>
                  <a:pt x="36778" y="147113"/>
                </a:cubicBezTo>
                <a:cubicBezTo>
                  <a:pt x="36778" y="208009"/>
                  <a:pt x="86218" y="257448"/>
                  <a:pt x="147113" y="257448"/>
                </a:cubicBezTo>
                <a:cubicBezTo>
                  <a:pt x="208009" y="257448"/>
                  <a:pt x="257448" y="208009"/>
                  <a:pt x="257448" y="147113"/>
                </a:cubicBezTo>
                <a:close/>
                <a:moveTo>
                  <a:pt x="0" y="147113"/>
                </a:moveTo>
                <a:cubicBezTo>
                  <a:pt x="0" y="65919"/>
                  <a:pt x="65919" y="0"/>
                  <a:pt x="147113" y="0"/>
                </a:cubicBezTo>
                <a:cubicBezTo>
                  <a:pt x="228307" y="0"/>
                  <a:pt x="294226" y="65919"/>
                  <a:pt x="294226" y="147113"/>
                </a:cubicBezTo>
                <a:cubicBezTo>
                  <a:pt x="294226" y="228307"/>
                  <a:pt x="228307" y="294226"/>
                  <a:pt x="147113" y="294226"/>
                </a:cubicBezTo>
                <a:cubicBezTo>
                  <a:pt x="65919" y="294226"/>
                  <a:pt x="0" y="228307"/>
                  <a:pt x="0" y="147113"/>
                </a:cubicBezTo>
                <a:close/>
                <a:moveTo>
                  <a:pt x="147113" y="193086"/>
                </a:moveTo>
                <a:cubicBezTo>
                  <a:pt x="172486" y="193086"/>
                  <a:pt x="193086" y="172486"/>
                  <a:pt x="193086" y="147113"/>
                </a:cubicBezTo>
                <a:cubicBezTo>
                  <a:pt x="193086" y="121740"/>
                  <a:pt x="172486" y="101140"/>
                  <a:pt x="147113" y="101140"/>
                </a:cubicBezTo>
                <a:cubicBezTo>
                  <a:pt x="121740" y="101140"/>
                  <a:pt x="101140" y="121740"/>
                  <a:pt x="101140" y="147113"/>
                </a:cubicBezTo>
                <a:cubicBezTo>
                  <a:pt x="101140" y="172486"/>
                  <a:pt x="121740" y="193086"/>
                  <a:pt x="147113" y="193086"/>
                </a:cubicBezTo>
                <a:close/>
                <a:moveTo>
                  <a:pt x="147113" y="64362"/>
                </a:moveTo>
                <a:cubicBezTo>
                  <a:pt x="192785" y="64362"/>
                  <a:pt x="229864" y="101442"/>
                  <a:pt x="229864" y="147113"/>
                </a:cubicBezTo>
                <a:cubicBezTo>
                  <a:pt x="229864" y="192785"/>
                  <a:pt x="192785" y="229864"/>
                  <a:pt x="147113" y="229864"/>
                </a:cubicBezTo>
                <a:cubicBezTo>
                  <a:pt x="101442" y="229864"/>
                  <a:pt x="64362" y="192785"/>
                  <a:pt x="64362" y="147113"/>
                </a:cubicBezTo>
                <a:cubicBezTo>
                  <a:pt x="64362" y="101442"/>
                  <a:pt x="101442" y="64362"/>
                  <a:pt x="147113" y="64362"/>
                </a:cubicBezTo>
                <a:close/>
                <a:moveTo>
                  <a:pt x="128724" y="147113"/>
                </a:moveTo>
                <a:cubicBezTo>
                  <a:pt x="128724" y="136964"/>
                  <a:pt x="136964" y="128724"/>
                  <a:pt x="147113" y="128724"/>
                </a:cubicBezTo>
                <a:cubicBezTo>
                  <a:pt x="157262" y="128724"/>
                  <a:pt x="165502" y="136964"/>
                  <a:pt x="165502" y="147113"/>
                </a:cubicBezTo>
                <a:cubicBezTo>
                  <a:pt x="165502" y="157262"/>
                  <a:pt x="157262" y="165502"/>
                  <a:pt x="147113" y="165502"/>
                </a:cubicBezTo>
                <a:cubicBezTo>
                  <a:pt x="136964" y="165502"/>
                  <a:pt x="128724" y="157262"/>
                  <a:pt x="128724" y="147113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18" name="Text 15"/>
          <p:cNvSpPr/>
          <p:nvPr/>
        </p:nvSpPr>
        <p:spPr>
          <a:xfrm>
            <a:off x="1569207" y="3996190"/>
            <a:ext cx="1211231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优化重点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69207" y="4535605"/>
            <a:ext cx="12075535" cy="3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8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用户反馈集中在</a:t>
            </a:r>
            <a:r>
              <a:rPr lang="en-US" sz="1738" b="1" dirty="0">
                <a:solidFill>
                  <a:srgbClr val="F0F2F5">
                    <a:alpha val="80000"/>
                  </a:srgbClr>
                </a:solidFill>
                <a:highlight>
                  <a:srgbClr val="3C8082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交互细节与流程优化 </a:t>
            </a:r>
            <a:r>
              <a:rPr lang="en-US" sz="1738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上，建议优先处理"手动录入优化"与"操作反馈增强"两类问题，以快速提升用户体验。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4896" y="5384570"/>
            <a:ext cx="15250727" cy="1385315"/>
          </a:xfrm>
          <a:custGeom>
            <a:avLst/>
            <a:gdLst/>
            <a:ahLst/>
            <a:cxnLst/>
            <a:rect l="l" t="t" r="r" b="b"/>
            <a:pathLst>
              <a:path w="15250727" h="1385315">
                <a:moveTo>
                  <a:pt x="49038" y="0"/>
                </a:moveTo>
                <a:lnTo>
                  <a:pt x="15103620" y="0"/>
                </a:lnTo>
                <a:cubicBezTo>
                  <a:pt x="15184865" y="0"/>
                  <a:pt x="15250727" y="65862"/>
                  <a:pt x="15250727" y="147107"/>
                </a:cubicBezTo>
                <a:lnTo>
                  <a:pt x="15250727" y="1238209"/>
                </a:lnTo>
                <a:cubicBezTo>
                  <a:pt x="15250727" y="1319453"/>
                  <a:pt x="15184865" y="1385315"/>
                  <a:pt x="15103620" y="1385315"/>
                </a:cubicBezTo>
                <a:lnTo>
                  <a:pt x="49038" y="1385315"/>
                </a:lnTo>
                <a:cubicBezTo>
                  <a:pt x="21955" y="1385315"/>
                  <a:pt x="0" y="1363360"/>
                  <a:pt x="0" y="13362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C8082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14896" y="5384570"/>
            <a:ext cx="49038" cy="1385315"/>
          </a:xfrm>
          <a:custGeom>
            <a:avLst/>
            <a:gdLst/>
            <a:ahLst/>
            <a:cxnLst/>
            <a:rect l="l" t="t" r="r" b="b"/>
            <a:pathLst>
              <a:path w="49038" h="1385315">
                <a:moveTo>
                  <a:pt x="49038" y="0"/>
                </a:moveTo>
                <a:lnTo>
                  <a:pt x="49038" y="0"/>
                </a:lnTo>
                <a:lnTo>
                  <a:pt x="49038" y="1385315"/>
                </a:lnTo>
                <a:lnTo>
                  <a:pt x="49038" y="1385315"/>
                </a:lnTo>
                <a:cubicBezTo>
                  <a:pt x="21955" y="1385315"/>
                  <a:pt x="0" y="1363360"/>
                  <a:pt x="0" y="1336278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2" name="Shape 19"/>
          <p:cNvSpPr/>
          <p:nvPr/>
        </p:nvSpPr>
        <p:spPr>
          <a:xfrm>
            <a:off x="784603" y="5629759"/>
            <a:ext cx="588452" cy="588452"/>
          </a:xfrm>
          <a:custGeom>
            <a:avLst/>
            <a:gdLst/>
            <a:ahLst/>
            <a:cxnLst/>
            <a:rect l="l" t="t" r="r" b="b"/>
            <a:pathLst>
              <a:path w="588452" h="588452">
                <a:moveTo>
                  <a:pt x="147113" y="0"/>
                </a:moveTo>
                <a:lnTo>
                  <a:pt x="441339" y="0"/>
                </a:lnTo>
                <a:cubicBezTo>
                  <a:pt x="522533" y="0"/>
                  <a:pt x="588452" y="65919"/>
                  <a:pt x="588452" y="147113"/>
                </a:cubicBezTo>
                <a:lnTo>
                  <a:pt x="588452" y="441339"/>
                </a:lnTo>
                <a:cubicBezTo>
                  <a:pt x="588452" y="522588"/>
                  <a:pt x="522588" y="588452"/>
                  <a:pt x="441339" y="588452"/>
                </a:cubicBezTo>
                <a:lnTo>
                  <a:pt x="147113" y="588452"/>
                </a:lnTo>
                <a:cubicBezTo>
                  <a:pt x="65865" y="588452"/>
                  <a:pt x="0" y="522588"/>
                  <a:pt x="0" y="441339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7DAA92">
              <a:alpha val="3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931716" y="5776872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73557" y="183891"/>
                </a:moveTo>
                <a:lnTo>
                  <a:pt x="14079" y="183891"/>
                </a:lnTo>
                <a:cubicBezTo>
                  <a:pt x="-230" y="183891"/>
                  <a:pt x="-9022" y="168318"/>
                  <a:pt x="-1667" y="156020"/>
                </a:cubicBezTo>
                <a:lnTo>
                  <a:pt x="28733" y="105335"/>
                </a:lnTo>
                <a:cubicBezTo>
                  <a:pt x="33733" y="97003"/>
                  <a:pt x="42697" y="91946"/>
                  <a:pt x="52409" y="91946"/>
                </a:cubicBezTo>
                <a:lnTo>
                  <a:pt x="107002" y="91946"/>
                </a:lnTo>
                <a:cubicBezTo>
                  <a:pt x="150733" y="17872"/>
                  <a:pt x="215957" y="14137"/>
                  <a:pt x="259574" y="20515"/>
                </a:cubicBezTo>
                <a:cubicBezTo>
                  <a:pt x="266930" y="21607"/>
                  <a:pt x="272676" y="27354"/>
                  <a:pt x="273711" y="34652"/>
                </a:cubicBezTo>
                <a:cubicBezTo>
                  <a:pt x="280090" y="78269"/>
                  <a:pt x="276354" y="143493"/>
                  <a:pt x="202281" y="187224"/>
                </a:cubicBezTo>
                <a:lnTo>
                  <a:pt x="202281" y="241817"/>
                </a:lnTo>
                <a:cubicBezTo>
                  <a:pt x="202281" y="251529"/>
                  <a:pt x="197224" y="260494"/>
                  <a:pt x="188891" y="265493"/>
                </a:cubicBezTo>
                <a:lnTo>
                  <a:pt x="138206" y="295893"/>
                </a:lnTo>
                <a:cubicBezTo>
                  <a:pt x="125966" y="303248"/>
                  <a:pt x="110335" y="294399"/>
                  <a:pt x="110335" y="280147"/>
                </a:cubicBezTo>
                <a:lnTo>
                  <a:pt x="110335" y="220670"/>
                </a:lnTo>
                <a:cubicBezTo>
                  <a:pt x="110335" y="200384"/>
                  <a:pt x="93842" y="183891"/>
                  <a:pt x="73557" y="183891"/>
                </a:cubicBezTo>
                <a:lnTo>
                  <a:pt x="73499" y="183891"/>
                </a:lnTo>
                <a:close/>
                <a:moveTo>
                  <a:pt x="229864" y="91946"/>
                </a:moveTo>
                <a:cubicBezTo>
                  <a:pt x="229864" y="76722"/>
                  <a:pt x="217504" y="64362"/>
                  <a:pt x="202281" y="64362"/>
                </a:cubicBezTo>
                <a:cubicBezTo>
                  <a:pt x="187057" y="64362"/>
                  <a:pt x="174697" y="76722"/>
                  <a:pt x="174697" y="91946"/>
                </a:cubicBezTo>
                <a:cubicBezTo>
                  <a:pt x="174697" y="107170"/>
                  <a:pt x="187057" y="119529"/>
                  <a:pt x="202281" y="119529"/>
                </a:cubicBezTo>
                <a:cubicBezTo>
                  <a:pt x="217504" y="119529"/>
                  <a:pt x="229864" y="107170"/>
                  <a:pt x="229864" y="91946"/>
                </a:cubicBezTo>
                <a:close/>
              </a:path>
            </a:pathLst>
          </a:custGeom>
          <a:solidFill>
            <a:srgbClr val="7DAA92"/>
          </a:solidFill>
          <a:ln/>
        </p:spPr>
      </p:sp>
      <p:sp>
        <p:nvSpPr>
          <p:cNvPr id="24" name="Text 21"/>
          <p:cNvSpPr/>
          <p:nvPr/>
        </p:nvSpPr>
        <p:spPr>
          <a:xfrm>
            <a:off x="1569207" y="5629759"/>
            <a:ext cx="14049303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行动方向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569207" y="6169174"/>
            <a:ext cx="14012525" cy="355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8" dirty="0">
                <a:solidFill>
                  <a:srgbClr val="F0F2F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按优先级分阶段改进：先完成高优先级任务（录入优化、滑动反馈、日历交互），再处理中低优先级任务，最后考虑用户提出的创新功能建议。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96507" y="7073306"/>
            <a:ext cx="4916030" cy="1838914"/>
          </a:xfrm>
          <a:custGeom>
            <a:avLst/>
            <a:gdLst/>
            <a:ahLst/>
            <a:cxnLst/>
            <a:rect l="l" t="t" r="r" b="b"/>
            <a:pathLst>
              <a:path w="4916030" h="1838914">
                <a:moveTo>
                  <a:pt x="147113" y="0"/>
                </a:moveTo>
                <a:lnTo>
                  <a:pt x="4768917" y="0"/>
                </a:lnTo>
                <a:cubicBezTo>
                  <a:pt x="4850165" y="0"/>
                  <a:pt x="4916030" y="65865"/>
                  <a:pt x="4916030" y="147113"/>
                </a:cubicBezTo>
                <a:lnTo>
                  <a:pt x="4916030" y="1691801"/>
                </a:lnTo>
                <a:cubicBezTo>
                  <a:pt x="4916030" y="1773049"/>
                  <a:pt x="4850165" y="1838914"/>
                  <a:pt x="4768917" y="1838914"/>
                </a:cubicBezTo>
                <a:lnTo>
                  <a:pt x="147113" y="1838914"/>
                </a:lnTo>
                <a:cubicBezTo>
                  <a:pt x="65865" y="1838914"/>
                  <a:pt x="0" y="1773049"/>
                  <a:pt x="0" y="1691801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270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8787" y="7324625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平均满意度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0712" y="7716926"/>
            <a:ext cx="4707620" cy="60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633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4.2</a:t>
            </a:r>
            <a:r>
              <a:rPr lang="en-US" sz="2896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98787" y="8360546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544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用户满意度较高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670847" y="7073306"/>
            <a:ext cx="4916030" cy="1838914"/>
          </a:xfrm>
          <a:custGeom>
            <a:avLst/>
            <a:gdLst/>
            <a:ahLst/>
            <a:cxnLst/>
            <a:rect l="l" t="t" r="r" b="b"/>
            <a:pathLst>
              <a:path w="4916030" h="1838914">
                <a:moveTo>
                  <a:pt x="147113" y="0"/>
                </a:moveTo>
                <a:lnTo>
                  <a:pt x="4768917" y="0"/>
                </a:lnTo>
                <a:cubicBezTo>
                  <a:pt x="4850165" y="0"/>
                  <a:pt x="4916030" y="65865"/>
                  <a:pt x="4916030" y="147113"/>
                </a:cubicBezTo>
                <a:lnTo>
                  <a:pt x="4916030" y="1691801"/>
                </a:lnTo>
                <a:cubicBezTo>
                  <a:pt x="4916030" y="1773049"/>
                  <a:pt x="4850165" y="1838914"/>
                  <a:pt x="4768917" y="1838914"/>
                </a:cubicBezTo>
                <a:lnTo>
                  <a:pt x="147113" y="1838914"/>
                </a:lnTo>
                <a:cubicBezTo>
                  <a:pt x="65865" y="1838914"/>
                  <a:pt x="0" y="1773049"/>
                  <a:pt x="0" y="1691801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270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3127" y="7324625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任务完成率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775052" y="7716926"/>
            <a:ext cx="4707620" cy="60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633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91.7</a:t>
            </a:r>
            <a:r>
              <a:rPr lang="en-US" sz="2896" b="1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873127" y="8360546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核心功能可用性高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845187" y="7073306"/>
            <a:ext cx="4916030" cy="1838914"/>
          </a:xfrm>
          <a:custGeom>
            <a:avLst/>
            <a:gdLst/>
            <a:ahLst/>
            <a:cxnLst/>
            <a:rect l="l" t="t" r="r" b="b"/>
            <a:pathLst>
              <a:path w="4916030" h="1838914">
                <a:moveTo>
                  <a:pt x="147113" y="0"/>
                </a:moveTo>
                <a:lnTo>
                  <a:pt x="4768917" y="0"/>
                </a:lnTo>
                <a:cubicBezTo>
                  <a:pt x="4850165" y="0"/>
                  <a:pt x="4916030" y="65865"/>
                  <a:pt x="4916030" y="147113"/>
                </a:cubicBezTo>
                <a:lnTo>
                  <a:pt x="4916030" y="1691801"/>
                </a:lnTo>
                <a:cubicBezTo>
                  <a:pt x="4916030" y="1773049"/>
                  <a:pt x="4850165" y="1838914"/>
                  <a:pt x="4768917" y="1838914"/>
                </a:cubicBezTo>
                <a:lnTo>
                  <a:pt x="147113" y="1838914"/>
                </a:lnTo>
                <a:cubicBezTo>
                  <a:pt x="65865" y="1838914"/>
                  <a:pt x="0" y="1773049"/>
                  <a:pt x="0" y="1691801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270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047468" y="7324625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兼容性通过率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949392" y="7716926"/>
            <a:ext cx="4707620" cy="600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633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r>
              <a:rPr lang="en-US" sz="2896" b="1" dirty="0">
                <a:solidFill>
                  <a:srgbClr val="7DAA9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047468" y="8360546"/>
            <a:ext cx="4511469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dirty="0">
                <a:solidFill>
                  <a:srgbClr val="F0F2F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8款机型全部通过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95234-7B4D-9E60-7C2F-855409AF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cfb0e3e274d17915085e5c75186dd0f03ab7bfa.jpg">
            <a:extLst>
              <a:ext uri="{FF2B5EF4-FFF2-40B4-BE49-F238E27FC236}">
                <a16:creationId xmlns:a16="http://schemas.microsoft.com/office/drawing/2014/main" id="{3E236C3B-404C-14EE-ADB5-9A0F0AAAF1F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7784" b="778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CA8CEE2-0A46-5587-EFDB-6D6F8829000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C80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C9EC578-591B-6314-7CD0-8668F178ADB3}"/>
              </a:ext>
            </a:extLst>
          </p:cNvPr>
          <p:cNvSpPr/>
          <p:nvPr/>
        </p:nvSpPr>
        <p:spPr>
          <a:xfrm>
            <a:off x="5045845" y="3048000"/>
            <a:ext cx="6164309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F0F2F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THANKS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40355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740</Words>
  <Application>Microsoft Office PowerPoint</Application>
  <PresentationFormat>自定义</PresentationFormat>
  <Paragraphs>339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微软雅黑</vt:lpstr>
      <vt:lpstr>阿里妈妈数黑体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KitchenPal Android 兼容性测试报告</dc:title>
  <dc:subject>KitchenPal Android 兼容性测试报告</dc:subject>
  <dc:creator>Kimi</dc:creator>
  <cp:lastModifiedBy>Joyce Yang</cp:lastModifiedBy>
  <cp:revision>27</cp:revision>
  <dcterms:created xsi:type="dcterms:W3CDTF">2025-12-21T17:34:06Z</dcterms:created>
  <dcterms:modified xsi:type="dcterms:W3CDTF">2025-12-23T15:17:33Z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{"Label":"KitchenPal Android 兼容性测试报告","ContentProducer":"001191110108MACG2KBH8F10000","ProduceID":"19b41ea6-04f2-8616-8000-0000c55af4e8","ReservedCode1":"","ContentPropagator":"001191110108MACG2KBH8F20000","PropagateID":"19b41ea6-04f2-8616-8000-0000c55af4e8","ReservedCode2":""}</vt:lpwstr>
  </property>
</Properties>
</file>